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objets</c:v>
                </c:pt>
              </c:strCache>
            </c:strRef>
          </c:tx>
          <c:spPr>
            <a:solidFill>
              <a:srgbClr val="0F3C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C26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Portes portuaires</c:v>
                  </c:pt>
                  <c:pt idx="1">
                    <c:v>Points de passage terrestres</c:v>
                  </c:pt>
                  <c:pt idx="2">
                    <c:v>Détroits et canaux</c:v>
                  </c:pt>
                  <c:pt idx="3">
                    <c:v>Infrastructure numérique</c:v>
                  </c:pt>
                  <c:pt idx="4">
                    <c:v>Approvisionnements critiques</c:v>
                  </c:pt>
                  <c:pt idx="5">
                    <c:v>Infrastructure énergétique</c:v>
                  </c:pt>
                  <c:pt idx="6">
                    <c:v>Autres infrastructures</c:v>
                  </c:pt>
                  <c:pt idx="7">
                    <c:v>Portes aéro-cargo</c:v>
                  </c:pt>
                  <c:pt idx="8">
                    <c:v>Systèmes stratégiques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75</c:v>
                </c:pt>
                <c:pt idx="1">
                  <c:v>51</c:v>
                </c:pt>
                <c:pt idx="2">
                  <c:v>45</c:v>
                </c:pt>
                <c:pt idx="3">
                  <c:v>36</c:v>
                </c:pt>
                <c:pt idx="4">
                  <c:v>32</c:v>
                </c:pt>
                <c:pt idx="5">
                  <c:v>26</c:v>
                </c:pt>
                <c:pt idx="6">
                  <c:v>23</c:v>
                </c:pt>
                <c:pt idx="7">
                  <c:v>18</c:v>
                </c:pt>
                <c:pt idx="8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1C26"/>
                  </a:solidFill>
                  <a:latin typeface="IBM Plex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1C26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mailto:contact@applied-geopolitics.com" TargetMode="External"/><Relationship Id="rId2" Type="http://schemas.openxmlformats.org/officeDocument/2006/relationships/hyperlink" Target="https://www.applied-geopolitics.co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2212848"/>
            <a:ext cx="182880" cy="182880"/>
          </a:xfrm>
          <a:prstGeom prst="diamond">
            <a:avLst/>
          </a:prstGeom>
          <a:solidFill>
            <a:srgbClr val="C8282C"/>
          </a:solidFill>
          <a:ln w="12700">
            <a:solidFill>
              <a:srgbClr val="C828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615184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4F6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Sur quoi cela repose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58368" y="3986784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3DB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base de données de corridors instrumentée, trois méthodes qui s’enchaînent, et ce qu’elles refusent de prétendre.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8368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BFCA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MÉTHODE · FR · 2026-08-10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3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2615184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 socle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58368" y="3822192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3DB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Avant la méthode, la base. Ce que nous avons recensé, d’où cela vient, et ce que nous en dérivons.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CA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29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 SOCLE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58368" y="1371600"/>
            <a:ext cx="10872216" cy="3200400"/>
          </a:xfrm>
          <a:prstGeom prst="rect">
            <a:avLst/>
          </a:prstGeom>
          <a:solidFill>
            <a:srgbClr val="FCFDFE"/>
          </a:solidFill>
          <a:ln w="12700">
            <a:solidFill>
              <a:srgbClr val="D3DB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1828800"/>
            <a:ext cx="155448" cy="155448"/>
          </a:xfrm>
          <a:prstGeom prst="diamond">
            <a:avLst/>
          </a:prstGeom>
          <a:solidFill>
            <a:srgbClr val="0F3C4E"/>
          </a:solidFill>
          <a:ln w="12700">
            <a:solidFill>
              <a:srgbClr val="0F3C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" y="2212848"/>
            <a:ext cx="9409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Nous ne produisons pas des notes à partir de la presse. Nous interrogeons une base de corridors que nous tenons.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33856" y="3602736"/>
            <a:ext cx="94091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analyse part d’objets recensés, sourcés et versionnés, pas d’une recherche recommencée à chaque dossier. C’est ce qui rend deux corridors comparables — la même grille, appliquée de la même façon —, ce qui permet de suivre une évolution, et de répondre le lendemain à la question posée la veille.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29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 SOCLE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L’ordre de grandeur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2926080"/>
            <a:ext cx="3380232" cy="0"/>
          </a:xfrm>
          <a:prstGeom prst="line">
            <a:avLst/>
          </a:prstGeom>
          <a:noFill/>
          <a:ln w="12700">
            <a:solidFill>
              <a:srgbClr val="BFCA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145536"/>
            <a:ext cx="3380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F3C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313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58368" y="4242816"/>
            <a:ext cx="338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OBJETS RECENSÉS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4572000"/>
            <a:ext cx="338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Détroits, canaux, ports, points de passage terrestres, câbles, infrastructures énergétiques et numériques.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4360" y="2926080"/>
            <a:ext cx="3380232" cy="0"/>
          </a:xfrm>
          <a:prstGeom prst="line">
            <a:avLst/>
          </a:prstGeom>
          <a:noFill/>
          <a:ln w="12700">
            <a:solidFill>
              <a:srgbClr val="BFCA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4360" y="3145536"/>
            <a:ext cx="3380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F3C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190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404360" y="4242816"/>
            <a:ext cx="338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SOURCES AU REGISTRE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04360" y="4572000"/>
            <a:ext cx="338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Chacune porte son niveau de fiabilité et son régime de licence : usage, extraction, stockage.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0352" y="2926080"/>
            <a:ext cx="3380232" cy="0"/>
          </a:xfrm>
          <a:prstGeom prst="line">
            <a:avLst/>
          </a:prstGeom>
          <a:noFill/>
          <a:ln w="12700">
            <a:solidFill>
              <a:srgbClr val="BFCA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0352" y="3145536"/>
            <a:ext cx="3380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F3C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15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150352" y="4242816"/>
            <a:ext cx="338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MOTEURS DÉRIVÉS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150352" y="4572000"/>
            <a:ext cx="338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CVI, contrôle, corroboration, résilience, réseau, arme-abilité, pression événementielle, perte commerciale exposée…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Recensé n’est pas validé : la promotion d’un objet en priorité P0 exige des preuves sourcées et une validation humaine. 30 objets y sont aujourd’hui. Ce chiffre est celui du corpus instruit — la base sert par ailleurs 2 218 objets, dont l’essentiel n’a reçu aucun traitement analytique.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29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 SOCLE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Ce que « corridor » recouvre réellement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58368" y="2194560"/>
          <a:ext cx="10872216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corridor n’est pas une route maritime. Les trois quarts du corpus ne sont pas des détroits — ce sont des ports, des passages terrestres, des câbles et des installations énergétiques.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29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 SOCLE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La provenance est une contrainte, pas une annexe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608844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source entre au registre avec son niveau de fiabilité et son régime de licence. Une source dont la licence interdit l’extraction est mise en quarantaine par le chargeur : elle n’entre pas dans la base, elle ne se retrouve pas dans un livrable par inadvertance.</a:t>
            </a:r>
            <a:endParaRPr lang="en-US" sz="1400" dirty="0"/>
          </a:p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canonique et le dérivé sont séparés jusque dans les droits de la base : les moteurs analytiques tournent sous un rôle en lecture seule sur les données canoniques. Une analyse ne peut pas, structurellement, réécrire le fait dont elle part.</a:t>
            </a:r>
            <a:endParaRPr lang="en-US" sz="1400" dirty="0"/>
          </a:p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corpus n’est pas figé : chaque changement de schéma est une migration versionnée, et chaque décision d’architecture est écrite avant d’être appliquée.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04009" y="2194560"/>
            <a:ext cx="4326575" cy="2926080"/>
          </a:xfrm>
          <a:prstGeom prst="rect">
            <a:avLst/>
          </a:prstGeom>
          <a:solidFill>
            <a:srgbClr val="FCFDFE"/>
          </a:solidFill>
          <a:ln w="12700">
            <a:solidFill>
              <a:srgbClr val="D3D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14905" y="2468880"/>
            <a:ext cx="3704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DISCIPLINE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14905" y="2889504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 au registre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64724" y="2889504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14905" y="3310128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Moteurs dérivés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64724" y="3310128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14905" y="3730752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Décisions d’architecture écrites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64724" y="3730752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14905" y="4151376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Migrations versionnées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64724" y="4151376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14905" y="4572000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Contrat de lecture épinglé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64724" y="4572000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0.18.0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n’est pas de la rigueur affichée : c’est ce qui rend une affirmation réfutable six mois plus tard. L’interface de lecture elle-même est un contrat versionné, épinglé chez le consommateur : une rupture est détectée à la compilation, des deux côtés, jamais en production.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29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 SOCLE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Ce que la base calcule d’elle-même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8778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Contrôle et arme-abilité : qui tient un nœud, et jusqu’où ce pouvoir est instrumentalisable.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Corroboration : combien de sources indépendantes soutiennent une affirmation, et lesquelles la contredisent.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Résilience et réseau : ce qui tombe en second si le premier nœud cède, et par quel chemin.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Perte commerciale exposée : l’ordre de grandeur du flux réellement en jeu, pas le volume total du corridor.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Pression événementielle : l’écart entre l’activité observée et sa ligne de base.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sorties dérivées sont des candidats : elles alimentent le jugement, elles ne le remplacent pas, et elles ne modifient jamais l’enregistrement canonique.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29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 SOCLE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Ce qui bouge, et comment nous le laissons entrer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8778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Agrégation de presse par corridor, avec détection des pics d’attention médiatique.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 GDELT brut pour la couverture événementielle mondiale.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Consensus de marchés prédictifs, rattaché à un corridor par un juge LLM, puis planché à deux marchés minimum.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porte robots.txt sur toute collecte : ce que l’éditeur refuse, nous ne le prenons pas.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plancher de cardinalité est récent et il coûte : il a retiré son bloc de consensus à Panama, notre corridor le plus visible. Un signal adossé à un seul marché n’est pas un consensus, même quand il arrange.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29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2615184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Mesurer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58368" y="3822192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3DB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CVI : huit dimensions pour qualifier la vulnérabilité d’un corridor, et une règle dure sur les scores.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CA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29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MÉTHODE CVI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Huit dimensions, et la question que chacune pose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61288" y="21945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Exposition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1288" y="2688336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Quels flux dépendent du corridor 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49574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52494" y="21945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52494" y="2688336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Existe-t-il des alternatives crédibles 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40780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43700" y="21945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Menace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43700" y="2688336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Quels acteurs/événements peuvent perturber 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031986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34906" y="21945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Capacité de perturbation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34906" y="2688336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Ces acteurs ont-ils les moyens réels de perturber 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40873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61288" y="4087368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Résilience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61288" y="4581144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Combien de temps pour contourner/réparer/absorber 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49574" y="40873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52494" y="4087368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Coût de contournement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52494" y="4581144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 coût économique, logistique, assurantiel ou politique 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40780" y="40873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43700" y="4087368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Gouvernance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43700" y="4581144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 peut sécuriser/coordonner/stabiliser 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31986" y="40873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534906" y="4087368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Incertitude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34906" y="4581144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 ne sait-on pas, avec quel niveau de confiance 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CVI ne compresse pas ces huit questions en un chiffre unique tant que la pondération n’est pas documentée et publiée.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29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MÉTHODE CVI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Ce que l’échelle vous donne, niveau par niveau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8778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et Basic — un diagnostic qualitatif, bas → critique : de quoi situer un corridor et le comparer à un autre.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— un score 0–5 par dimension : de quoi voir OÙ se loge la vulnérabilité, et donc sur quoi agir.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— un score agrégé 0–100 pondéré pour le contexte du client. La condition n’est pas remplie à ce jour : tant que la pondération n’est pas documentée et publiée, l’agrégat n’est pas calculé, et le moteur ne le sert pas.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tous les niveaux, chaque score affiche ses sources, sa date, son niveau de confiance et ses incertitudes.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—"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 de score global 0–100 sans documentation méthodologique publiée.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—"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 de probabilité de rupture : nous n’en produisons pas.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—"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Aucune valeur navigationnelle ni juridique dans la géométrie des cartes.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—"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2026-08-10 : 6 corridors instruits sur 313 portent les huit dimensions, 268 n’en portent que trois, et tous sont en bande critique. La grille discrimine en droit ; la base ne discrimine pas encore en fait.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indice qui ne dit pas ses limites n’est pas un indice, c’est une opinion chiffrée — et l’état de la base est une de ces limites.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29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III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2615184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Révéler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58368" y="3822192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3DB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HDDE : un entretien guidé qui remonte du fournisseur déclaré jusqu’au nœud qui contraint réellement.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CA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29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HDDE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58368" y="1371600"/>
            <a:ext cx="10872216" cy="3200400"/>
          </a:xfrm>
          <a:prstGeom prst="rect">
            <a:avLst/>
          </a:prstGeom>
          <a:solidFill>
            <a:srgbClr val="FCFDFE"/>
          </a:solidFill>
          <a:ln w="12700">
            <a:solidFill>
              <a:srgbClr val="D3DB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1828800"/>
            <a:ext cx="155448" cy="155448"/>
          </a:xfrm>
          <a:prstGeom prst="diamond">
            <a:avLst/>
          </a:prstGeom>
          <a:solidFill>
            <a:srgbClr val="0F3C4E"/>
          </a:solidFill>
          <a:ln w="12700">
            <a:solidFill>
              <a:srgbClr val="0F3C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" y="2212848"/>
            <a:ext cx="9409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 fournisseur qu’une entreprise déclare est presque toujours le mauvais objet d’analyse.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33856" y="3602736"/>
            <a:ext cx="94091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HDDE part de l’acteur visible et remonte : quelle est la nature réelle de la dépendance, quel flux est en jeu, qui peut le bloquer, et à quelle vitesse une rupture atteint le client. L’entretien est guidé parce que la dépendance cachée ne se déclare pas spontanément — elle se déduit.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29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HDDE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L’entretien, en onze temps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61288" y="21945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Cadrage du cas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1288" y="2688336"/>
            <a:ext cx="1995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Périmètre, acteur visible de départ, question de décision.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49574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52494" y="21945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Acteur critique visible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52494" y="2688336"/>
            <a:ext cx="1995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fournisseur, l’organe ou le point de passage déclaré.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40780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43700" y="21945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Nature de la dépendance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43700" y="2688336"/>
            <a:ext cx="1995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Contractuelle, technique, financière, réglementaire 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031986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34906" y="21945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 critique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34906" y="2688336"/>
            <a:ext cx="1995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flux physique, informationnel ou financier réellement en jeu.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3456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61288" y="3456432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Substitution réelle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61288" y="3950208"/>
            <a:ext cx="1995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alternative crédible existe-t-elle, à quel coût, en quel délai 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49574" y="3456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52494" y="3456432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Dépendances cachées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52494" y="3950208"/>
            <a:ext cx="1995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Fournisseurs de second rang, juridictions, nœuds invisibles.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40780" y="3456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43700" y="3456432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Contrôle et nuisance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43700" y="3950208"/>
            <a:ext cx="1995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Gatekeepers, régulateurs, assureurs, acteurs de perturbation.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31986" y="3456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534906" y="3456432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Temporalité d’impact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34906" y="3950208"/>
            <a:ext cx="1995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quelle vitesse une rupture se propage jusqu’au client.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" y="47183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61288" y="4718304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Seuils de décision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61288" y="5212080"/>
            <a:ext cx="1995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niveaux à partir desquels préparer, agir ou escalader.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49574" y="47183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52494" y="4718304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team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52494" y="5212080"/>
            <a:ext cx="1995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Mise à l’épreuve contradictoire du diagnostic avant conclusion.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40780" y="47183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43700" y="4718304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Synthèse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43700" y="5212080"/>
            <a:ext cx="19956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Packet de diagnostic traçable, source par source.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Onze temps, pas un questionnaire : chaque bloc conditionne la pertinence du suivant, et la red team précède toujours la conclusion.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29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HDDE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Neuf dimensions de diagnostic, notées 0–5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61288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Dépendance à l’acteur visible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1288" y="268833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quel point l’entreprise dépend-elle de l’acteur déclaré 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79976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82896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Dépendance cachée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82896" y="268833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Quelle exposition passe par des nœuds non visibles en amont 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01584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04504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Faiblesse de substitution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04504" y="268833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remplacement est-il crédible, rapide, soutenable 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3456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61288" y="34564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Exposition juridictionnelle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61288" y="395020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Quelles juridictions peuvent contraindre ou bloquer le flux 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79976" y="3456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82896" y="34564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Criticité du flux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82896" y="395020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rupture met-elle en jeu l’activité elle-même 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01584" y="3456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04504" y="34564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Pression temporelle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04504" y="395020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Combien de temps avant que l’impact atteigne le client 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47183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61288" y="47183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Pression des gatekeepers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61288" y="521208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 pouvoir de contrôle ou de nuisance des intermédiaires 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79976" y="47183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82896" y="47183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Qualité de preuve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82896" y="521208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diagnostic repose-t-il sur des preuves fiables et validées 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01584" y="47183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04504" y="47183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Préparation décisionnelle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04504" y="521208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L’entreprise est-elle prête à décider face à cette exposition 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huitième dimension note la solidité des sept autres : un diagnostic peut être alarmant et mal étayé, et il faut que cela se voie.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29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HDDE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L’échelle de preuve, et ce qu’elle refuse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15568" y="2328672"/>
            <a:ext cx="2194560" cy="128016"/>
          </a:xfrm>
          <a:prstGeom prst="rect">
            <a:avLst/>
          </a:prstGeom>
          <a:solidFill>
            <a:srgbClr val="0F3C4E"/>
          </a:solidFill>
          <a:ln w="12700">
            <a:solidFill>
              <a:srgbClr val="BFCA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84448" y="2194560"/>
            <a:ext cx="3840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officielle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2590800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15568" y="2724912"/>
            <a:ext cx="1755648" cy="128016"/>
          </a:xfrm>
          <a:prstGeom prst="rect">
            <a:avLst/>
          </a:prstGeom>
          <a:solidFill>
            <a:srgbClr val="0F3C4E"/>
          </a:solidFill>
          <a:ln w="12700">
            <a:solidFill>
              <a:srgbClr val="BFCA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4448" y="2590800"/>
            <a:ext cx="3840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2987040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15568" y="3121152"/>
            <a:ext cx="1755648" cy="128016"/>
          </a:xfrm>
          <a:prstGeom prst="rect">
            <a:avLst/>
          </a:prstGeom>
          <a:solidFill>
            <a:srgbClr val="0F3C4E"/>
          </a:solidFill>
          <a:ln w="12700">
            <a:solidFill>
              <a:srgbClr val="BFCA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2987040"/>
            <a:ext cx="3840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Donnée logistique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3383280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15568" y="3517392"/>
            <a:ext cx="1755648" cy="128016"/>
          </a:xfrm>
          <a:prstGeom prst="rect">
            <a:avLst/>
          </a:prstGeom>
          <a:solidFill>
            <a:srgbClr val="0F3C4E"/>
          </a:solidFill>
          <a:ln w="12700">
            <a:solidFill>
              <a:srgbClr val="BFCA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4448" y="3383280"/>
            <a:ext cx="3840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Clause d’assurance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3779520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15568" y="3913632"/>
            <a:ext cx="1316736" cy="128016"/>
          </a:xfrm>
          <a:prstGeom prst="rect">
            <a:avLst/>
          </a:prstGeom>
          <a:solidFill>
            <a:srgbClr val="0F3C4E"/>
          </a:solidFill>
          <a:ln w="12700">
            <a:solidFill>
              <a:srgbClr val="BFCA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4448" y="3779520"/>
            <a:ext cx="3840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fournisseur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4175760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15568" y="4309872"/>
            <a:ext cx="1316736" cy="128016"/>
          </a:xfrm>
          <a:prstGeom prst="rect">
            <a:avLst/>
          </a:prstGeom>
          <a:solidFill>
            <a:srgbClr val="0F3C4E"/>
          </a:solidFill>
          <a:ln w="12700">
            <a:solidFill>
              <a:srgbClr val="BFCA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84448" y="4175760"/>
            <a:ext cx="3840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 analyste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4572000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115568" y="4706112"/>
            <a:ext cx="877824" cy="128016"/>
          </a:xfrm>
          <a:prstGeom prst="rect">
            <a:avLst/>
          </a:prstGeom>
          <a:solidFill>
            <a:srgbClr val="0F3C4E"/>
          </a:solidFill>
          <a:ln w="12700">
            <a:solidFill>
              <a:srgbClr val="BFCA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84448" y="4572000"/>
            <a:ext cx="3840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Déclaration client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4968240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115568" y="5102352"/>
            <a:ext cx="877824" cy="128016"/>
          </a:xfrm>
          <a:prstGeom prst="rect">
            <a:avLst/>
          </a:prstGeom>
          <a:solidFill>
            <a:srgbClr val="0F3C4E"/>
          </a:solidFill>
          <a:ln w="12700">
            <a:solidFill>
              <a:srgbClr val="BFCA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84448" y="4968240"/>
            <a:ext cx="3840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de veille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" y="5364480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CA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115568" y="5498592"/>
            <a:ext cx="438912" cy="128016"/>
          </a:xfrm>
          <a:prstGeom prst="rect">
            <a:avLst/>
          </a:prstGeom>
          <a:solidFill>
            <a:srgbClr val="C8282C"/>
          </a:solidFill>
          <a:ln w="12700">
            <a:solidFill>
              <a:srgbClr val="BFCA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4448" y="5364480"/>
            <a:ext cx="3840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trike="sngStrike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Suggestion LLM — non recevable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modèle propose et conteste ; il n’atteste rien. Une suggestion LLM n’est jamais admissible comme preuve, quel que soit son aplomb.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29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HDDE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Ce qui sort de l’entretien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8778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packet de diagnostic versionné, avec le hash du pack méthodologique qui l’a produit.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matrice de dépendance et de contrôle : qui tient quoi, et par quel levier.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couche d’action légère : ce qui est faisable maintenant, à quel coût, avec quel effet.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diff entre deux versions : ce qui a changé depuis le dernier entretien, et pourquoi.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 exports FR et EN, et le JSON canonique du packet.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packet est daté et rejouable. Six mois plus tard, on peut dire ce qui était su, quand, et sur quelle preuve.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29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3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IV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2615184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Arbitrer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58368" y="3822192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3DB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VERDICT : sept temps, sept critères pondérés, quatre issues — et une condition d’arrêt obligatoire.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CA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29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Sept temps, et le garde-fou de chacun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61288" y="21945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Voir la situation réelle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1288" y="2688336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situation est posée sans la réponse.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49574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52494" y="21945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Évaluer les forces externes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52494" y="2688336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 de PESTEL encyclopédique.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40780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43700" y="21945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Révéler position, contraintes et asymétries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43700" y="2688336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force sans preuve devient une hypothèse.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031986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34906" y="2194560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Définir les options décisionnelles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34906" y="2688336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Alternative minimale et opposée/non-action obligatoires.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40873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61288" y="4087368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Interroger hypothèses, preuves et biais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61288" y="4581144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Preuve et contre-argument explicités.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49574" y="40873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52494" y="4087368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Comparer par score, risques et vetos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52494" y="4581144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score n’est pas la décision ; les vetos sont vérifiés.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40780" y="40873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43700" y="4087368"/>
            <a:ext cx="199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Trancher, tester ou différer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43700" y="4581144"/>
            <a:ext cx="19956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 d’arrêt obligatoire.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L’ordre est contraignant : on ne compare pas des options avant de les avoir définies, et on ne les définit pas avant d’avoir posé la situation sans sa réponse.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 / 29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Sept critères pondérés sur cent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283464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Valeur stratégique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93008" y="2366990"/>
            <a:ext cx="2377440" cy="164592"/>
          </a:xfrm>
          <a:prstGeom prst="rect">
            <a:avLst/>
          </a:prstGeom>
          <a:solidFill>
            <a:srgbClr val="0F3C4E"/>
          </a:solidFill>
          <a:ln w="12700">
            <a:solidFill>
              <a:srgbClr val="0F3C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98464" y="2194560"/>
            <a:ext cx="45720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2194560"/>
            <a:ext cx="494690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L’option améliore-t-elle réellement la situation 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704011"/>
            <a:ext cx="283464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Adéquation au contexte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93008" y="2876441"/>
            <a:ext cx="1783080" cy="164592"/>
          </a:xfrm>
          <a:prstGeom prst="rect">
            <a:avLst/>
          </a:prstGeom>
          <a:solidFill>
            <a:srgbClr val="0F3C4E"/>
          </a:solidFill>
          <a:ln w="12700">
            <a:solidFill>
              <a:srgbClr val="0F3C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98464" y="2704011"/>
            <a:ext cx="45720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2704011"/>
            <a:ext cx="494690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Résiste-t-elle aux forces externes 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3213463"/>
            <a:ext cx="283464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Capacité réelle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93008" y="3385893"/>
            <a:ext cx="1783080" cy="164592"/>
          </a:xfrm>
          <a:prstGeom prst="rect">
            <a:avLst/>
          </a:prstGeom>
          <a:solidFill>
            <a:srgbClr val="0F3C4E"/>
          </a:solidFill>
          <a:ln w="12700">
            <a:solidFill>
              <a:srgbClr val="0F3C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98464" y="3213463"/>
            <a:ext cx="45720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213463"/>
            <a:ext cx="494690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Avons-nous vraiment les moyens d’exécuter 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3722914"/>
            <a:ext cx="283464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Viabilité systémique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93008" y="3895344"/>
            <a:ext cx="1783080" cy="164592"/>
          </a:xfrm>
          <a:prstGeom prst="rect">
            <a:avLst/>
          </a:prstGeom>
          <a:solidFill>
            <a:srgbClr val="0F3C4E"/>
          </a:solidFill>
          <a:ln w="12700">
            <a:solidFill>
              <a:srgbClr val="0F3C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98464" y="3722914"/>
            <a:ext cx="45720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3722914"/>
            <a:ext cx="494690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Peut-elle fonctionner comme un système réel 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4232366"/>
            <a:ext cx="283464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Risque net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93008" y="4404795"/>
            <a:ext cx="1783080" cy="164592"/>
          </a:xfrm>
          <a:prstGeom prst="rect">
            <a:avLst/>
          </a:prstGeom>
          <a:solidFill>
            <a:srgbClr val="0F3C4E"/>
          </a:solidFill>
          <a:ln w="12700">
            <a:solidFill>
              <a:srgbClr val="0F3C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98464" y="4232366"/>
            <a:ext cx="45720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4232366"/>
            <a:ext cx="494690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risque est-il acceptable au regard du gain 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4741817"/>
            <a:ext cx="283464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Niveau de preuve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93008" y="4914247"/>
            <a:ext cx="1188720" cy="164592"/>
          </a:xfrm>
          <a:prstGeom prst="rect">
            <a:avLst/>
          </a:prstGeom>
          <a:solidFill>
            <a:srgbClr val="0F3C4E"/>
          </a:solidFill>
          <a:ln w="12700">
            <a:solidFill>
              <a:srgbClr val="0F3C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98464" y="4741817"/>
            <a:ext cx="45720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4741817"/>
            <a:ext cx="494690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Repose-t-elle sur des preuves solides 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" y="5251269"/>
            <a:ext cx="283464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Optionalité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93008" y="5423698"/>
            <a:ext cx="1188720" cy="164592"/>
          </a:xfrm>
          <a:prstGeom prst="rect">
            <a:avLst/>
          </a:prstGeom>
          <a:solidFill>
            <a:srgbClr val="0F3C4E"/>
          </a:solidFill>
          <a:ln w="12700">
            <a:solidFill>
              <a:srgbClr val="0F3C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98464" y="5251269"/>
            <a:ext cx="457200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C4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5251269"/>
            <a:ext cx="4946904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Ouvre-t-elle plus de portes qu’elle n’en ferme ?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pondération est affichée avant l’évaluation, pas ajustée après. Un poids que l’on découvre à la fin est un résultat déguisé en méthode.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 / 29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Quatre issues, et la bande de score qui y mène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≥ 80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61288" y="2194560"/>
            <a:ext cx="47868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1288" y="2688336"/>
            <a:ext cx="47868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Engager. Preuve ≥ 4, aucun veto, validation humaine.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40780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60–79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43700" y="2194560"/>
            <a:ext cx="47868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43700" y="2688336"/>
            <a:ext cx="47868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Engager un test falsifiable, borné, avec sa condition d’arrêt.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40873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40–59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61288" y="4087368"/>
            <a:ext cx="47868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DIFFÉRER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61288" y="4581144"/>
            <a:ext cx="47868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preuve manque ou le contexte n’est pas mûr. On fixe la date de revue.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40780" y="40873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0–39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43700" y="4087368"/>
            <a:ext cx="47868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ABANDONNER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43700" y="4581144"/>
            <a:ext cx="47868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L’option ne tient pas. On l’écrit, pour ne pas la reprendre dans six mois.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Différer et abandonner sont des décisions, pas des échecs de la méthode. Un protocole qui ne peut produire que « faire » ne sert à rien.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 / 29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Ce qui écrase le score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8778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Vetos durs, audités séparément : un score élevé ne survit pas à une impossibilité réglementaire, financière ou capacitaire.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Ajustements explicites et bornés, appliqués comme des pénalités raisonnées, jamais comme un arrondi.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Trois options minimum, dont une alternative minimale et l’opposée ou la non-action.</a:t>
            </a:r>
            <a:endParaRPr lang="en-US" sz="1500" dirty="0"/>
          </a:p>
          <a:p>
            <a:pPr marL="279400" indent="-279400">
              <a:spcAft>
                <a:spcPts val="1100"/>
              </a:spcAft>
              <a:buSzPct val="100000"/>
              <a:buChar char="◊"/>
            </a:pPr>
            <a:r>
              <a:rPr lang="en-US" sz="15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 d’arrêt obligatoire : à quoi reconnaît-on que la décision était mauvaise, et à quelle date on regarde.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—"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Aucune option n’est retenue sur le seul score.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—"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Aucune conclusion n’est rendue sans passage en red team contradictoire.</a:t>
            </a:r>
            <a:endParaRPr lang="en-US" sz="1500" dirty="0"/>
          </a:p>
          <a:p>
            <a:pPr marL="279400" indent="-279400">
              <a:spcAft>
                <a:spcPts val="800"/>
              </a:spcAft>
              <a:buSzPct val="100000"/>
              <a:buChar char="—"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Aucune décision n’est prise par le modèle : la validation est humaine et nominative.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/ 29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58368" y="1371600"/>
            <a:ext cx="10872216" cy="3200400"/>
          </a:xfrm>
          <a:prstGeom prst="rect">
            <a:avLst/>
          </a:prstGeom>
          <a:solidFill>
            <a:srgbClr val="FCFDFE"/>
          </a:solidFill>
          <a:ln w="12700">
            <a:solidFill>
              <a:srgbClr val="D3DB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1828800"/>
            <a:ext cx="155448" cy="155448"/>
          </a:xfrm>
          <a:prstGeom prst="diamond">
            <a:avLst/>
          </a:prstGeom>
          <a:solidFill>
            <a:srgbClr val="0F3C4E"/>
          </a:solidFill>
          <a:ln w="12700">
            <a:solidFill>
              <a:srgbClr val="0F3C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" y="2212848"/>
            <a:ext cx="9409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 score n’est pas la décision. Il est ce sur quoi la décision devra s’expliquer.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33856" y="3602736"/>
            <a:ext cx="94091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VERDICT ne produit pas un arbitrage automatique : il produit un arbitrage argumenté, avec ses hypothèses, ses preuves, ses contradictions et sa date de revue. La responsabilité reste entière, et c’est le but.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 / 29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3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2615184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Dérouler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58368" y="3822192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3DB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méthode appliquée à Malacca, sur sources publiques. Une illustration, pas un diagnostic publié.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CA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/ 29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DÉROULER · 1/4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 corridor, et ce qui y circule vraiment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608844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Malacca n’est pas une route, c’est un rétrécissement. Le passage contraignant est le chenal de Phillips, quelques kilomètres devant Singapour — et c’est là que se concentre tout ce qui suit.</a:t>
            </a:r>
            <a:endParaRPr lang="en-US" sz="1400" dirty="0"/>
          </a:p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premier travail n’est pas d’estimer un risque, c’est d’établir ce qui passe. Volume de brut, part destinée à un seul importateur, nombre de transits, débit conteneurisé du hub adjacent : quatre mesures institutionnelles, toutes sourcées, aucune dérivée.</a:t>
            </a:r>
            <a:endParaRPr lang="en-US" sz="1400" dirty="0"/>
          </a:p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Sans cette étape, tout ce qui suit serait une opinion sur une géographie.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04009" y="2194560"/>
            <a:ext cx="4326575" cy="2505456"/>
          </a:xfrm>
          <a:prstGeom prst="rect">
            <a:avLst/>
          </a:prstGeom>
          <a:solidFill>
            <a:srgbClr val="FCFDFE"/>
          </a:solidFill>
          <a:ln w="12700">
            <a:solidFill>
              <a:srgbClr val="D3D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14905" y="2468880"/>
            <a:ext cx="3704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MESURÉ, SOURCÉ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14905" y="2889504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Brut transitant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64724" y="2889504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23,2 Mb/j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14905" y="3310128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importée par la Chine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64724" y="3310128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48 %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14905" y="3730752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Transits (Malacca + Singapour)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64724" y="3730752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94 301 / 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14905" y="4151376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Débit conteneurs du hub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64724" y="4151376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41,1 M EVP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Illustration de méthode sur sources publiques — ce n’est pas un diagnostic publié. La fiche Atlas correspondante est en cours de validation humaine. Sources : US EIA, World Oil Transit Chokepoints (1ᵉʳ semestre 2025) ; MPA Singapore, Annual Report 2024.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 / 29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DÉROULER · 2/4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Où se cache la dépendance — et ce que personne ne documente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608844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question naïve est « peut-on passer ailleurs ? ». La réponse est oui : Lombok est profond et permissif, il accueille des navires que Malacca refuse. La contrainte n’est donc pas le tirant d’eau.</a:t>
            </a:r>
            <a:endParaRPr lang="en-US" sz="1400" dirty="0"/>
          </a:p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contrainte est la flotte. Un détour de +300 à +1 000 milles réduit le nombre de rotations annuelles et immobilise davantage de navires : le report bute sur l’absorption systémique, pas sur la géographie. La seule alternative chiffrée, le pipeline Chine–Myanmar, couvre environ 2 % du débit du détroit.</a:t>
            </a:r>
            <a:endParaRPr lang="en-US" sz="1400" dirty="0"/>
          </a:p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 le résultat le plus utile de l’analyse est une absence : aucune source publique ne chiffre la capacité résiduelle d’absorption. Nous l’écrivons.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04009" y="2194560"/>
            <a:ext cx="4326575" cy="2926080"/>
          </a:xfrm>
          <a:prstGeom prst="rect">
            <a:avLst/>
          </a:prstGeom>
          <a:solidFill>
            <a:srgbClr val="FCFDFE"/>
          </a:solidFill>
          <a:ln w="12700">
            <a:solidFill>
              <a:srgbClr val="D3D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14905" y="2468880"/>
            <a:ext cx="3704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 SUBSTITUTION, EXAMINÉE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14905" y="2889504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Profondeur de Lombok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64724" y="2889504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≈ 1 000 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14905" y="3310128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Allongement de route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64724" y="3310128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 à +4 j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14905" y="3730752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Chine–Myanmar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64724" y="3730752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≈ 400 kb/j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14905" y="4151376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du débit couverte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64724" y="4151376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≈ 2 %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14905" y="4572000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Capacité résiduelle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64724" y="4572000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non documentée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Illustration de méthode sur sources publiques — ce n’est pas un diagnostic publié. La fiche Atlas correspondante est en cours de validation humaine. Sources : Reuters (2017) et Global Energy Monitor pour la capacité du pipeline ; l’allongement de route est une modélisation, pas une donnée officielle.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 / 29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DÉROULER · 3/4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 seuil, et la décision qu’il déclenche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608844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diagnostic qui ne dit pas à quoi regarder demain matin n’a servi à rien. Chaque seuil lie un indicateur observable à une bascule de régime et à l’action qu’elle implique.</a:t>
            </a:r>
            <a:endParaRPr lang="en-US" sz="1400" dirty="0"/>
          </a:p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Ils sont explicitement classés : adossé à des sources vérifiées, partiel, ou repère hypothétique. Un seuil hypothétique reste utile — à condition qu’il ne se fasse pas passer pour une mesure.</a:t>
            </a:r>
            <a:endParaRPr lang="en-US" sz="1400" dirty="0"/>
          </a:p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croisement compte plus que le franchissement isolé : une chute de volume simultanée à une hausse d’incidents signale un basculement durable, là où chaque signal pris seul reste conjoncturel.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04009" y="2194560"/>
            <a:ext cx="4326575" cy="2926080"/>
          </a:xfrm>
          <a:prstGeom prst="rect">
            <a:avLst/>
          </a:prstGeom>
          <a:solidFill>
            <a:srgbClr val="FCFDFE"/>
          </a:solidFill>
          <a:ln w="12700">
            <a:solidFill>
              <a:srgbClr val="D3D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14905" y="2468880"/>
            <a:ext cx="3704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REPÈRES DE DÉCISION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14905" y="2889504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Recul du flux de brut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64724" y="2889504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15 %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14905" y="3310128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Recul des transits (4 sem.)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64724" y="3310128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20 %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14905" y="3730752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Incidents SOMS soutenus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64724" y="3730752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≥ 1 / sem. ×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14905" y="4151376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Blocage physique continu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64724" y="4151376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72 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14905" y="4572000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Incidents SOMS 2025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64724" y="4572000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108 (+74 %)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Illustration de méthode sur sources publiques — ce n’est pas un diagnostic publié. La fiche Atlas correspondante est en cours de validation humaine. Source : ReCAAP ISC, Annual Report 2025. Les seuils sont des repères de décision — une analyse, jamais une mesure.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27 / 29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DÉROULER · 4/4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10872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C2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 seuil est franchi. Que fait-on, et comment le saura-t-on 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608844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seuil franchi n’est pas une décision, c’est une entrée dans le protocole. On pose la situation sans sa réponse, on définit au moins trois options — la principale, une alternative minimale, et la non-action — puis seulement on compare.</a:t>
            </a:r>
            <a:endParaRPr lang="en-US" sz="1400" dirty="0"/>
          </a:p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 ce cas, l’option « pré-positionner trente jours de stock sur les intrants qui transitent par Malacca » sort avec un niveau de preuve partiel : les flux sont mesurés, la capacité résiduelle d’absorption ne l’est pas. Le score en tient compte, et c’est voulu — la pondération accorde dix points au niveau de preuve.</a:t>
            </a:r>
            <a:endParaRPr lang="en-US" sz="1400" dirty="0"/>
          </a:p>
          <a:p>
            <a:pPr indent="0" marL="0">
              <a:lnSpc>
                <a:spcPct val="128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41C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L’issue n’est donc pas d’engager. C’est un test borné, dont la condition d’arrêt est écrite avant de commencer : à quoi l’on reconnaîtra que la décision était mauvaise, et à quelle date on regarde.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04009" y="2194560"/>
            <a:ext cx="4326575" cy="2926080"/>
          </a:xfrm>
          <a:prstGeom prst="rect">
            <a:avLst/>
          </a:prstGeom>
          <a:solidFill>
            <a:srgbClr val="FCFDFE"/>
          </a:solidFill>
          <a:ln w="12700">
            <a:solidFill>
              <a:srgbClr val="D3D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14905" y="2468880"/>
            <a:ext cx="3704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C828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L’ARBITRAGE, TEL QU’IL SORT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14905" y="2889504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Seuil déclencheur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64724" y="2889504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-15 % brut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14905" y="3310128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Options comparées, dont la non-action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64724" y="3310128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14905" y="3730752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Niveau de preuve retenu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64724" y="3730752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/ 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14905" y="4151376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Vetos durs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64724" y="4151376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aucun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14905" y="4572000"/>
            <a:ext cx="22498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64724" y="4572000"/>
            <a:ext cx="145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60–79 · TESTER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5815584"/>
            <a:ext cx="9774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5C68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Illustration de méthode sur sources publiques — ce n’est pas un diagnostic publié. La fiche Atlas correspondante est en cours de validation humaine. Le score n’est pas la décision : il est ce sur quoi la décision devra s’expliquer. La validation reste humaine et nominative.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 / 29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3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6350">
            <a:solidFill>
              <a:srgbClr val="F4F6F8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1031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F6F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Aller plus loin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58368" y="3054096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3DB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méthode complète, corridor par corridor, s’instruit dans un pilote Premium fermé de six à huit semaines.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3DB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L’entretien de cadrage précède toute proposition — il sert autant à qualifier la demande qu’à la refuser si elle ne relève pas de nous.</a:t>
            </a:r>
            <a:endParaRPr lang="en-US" sz="1400" dirty="0"/>
          </a:p>
        </p:txBody>
      </p:sp>
      <p:sp>
        <p:nvSpPr>
          <p:cNvPr id="23" name="Text 21">
            <a:hlinkClick r:id="rId1" tooltip=""/>
          </p:cNvPr>
          <p:cNvSpPr/>
          <p:nvPr/>
        </p:nvSpPr>
        <p:spPr>
          <a:xfrm>
            <a:off x="658368" y="44439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F4F6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contact@applied-geopolitics.com</a:t>
            </a:r>
            <a:endParaRPr lang="en-US" sz="1400" dirty="0"/>
          </a:p>
        </p:txBody>
      </p:sp>
      <p:sp>
        <p:nvSpPr>
          <p:cNvPr id="24" name="Text 22">
            <a:hlinkClick r:id="rId2" tooltip=""/>
          </p:cNvPr>
          <p:cNvSpPr/>
          <p:nvPr/>
        </p:nvSpPr>
        <p:spPr>
          <a:xfrm>
            <a:off x="658368" y="482803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F4F6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www.applied-geopolitics.com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433304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CAD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29 / 29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Applied Geopolitics — LucidAxis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Geopolitics — Méthode</dc:title>
  <dc:subject>Le socle de données chokepoints, la méthode CVI, le diagnostic HDDE et le protocole d’arbitrage VERDICT.</dc:subject>
  <dc:creator>Applied Geopolitics</dc:creator>
  <cp:lastModifiedBy>Applied Geopolitics</cp:lastModifiedBy>
  <cp:revision>2026-08-10</cp:revision>
  <dcterms:created xsi:type="dcterms:W3CDTF">2026-08-10T00:00:00Z</dcterms:created>
  <dcterms:modified xsi:type="dcterms:W3CDTF">2026-08-10T00:00:00Z</dcterms:modified>
</cp:coreProperties>
</file>