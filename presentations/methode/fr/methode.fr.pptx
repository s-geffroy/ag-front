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objets</c:v>
                </c:pt>
              </c:strCache>
            </c:strRef>
          </c:tx>
          <c:spPr>
            <a:solidFill>
              <a:srgbClr val="0F3C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1C26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Portes portuaires</c:v>
                  </c:pt>
                  <c:pt idx="1">
                    <c:v>Points de passage terrestres</c:v>
                  </c:pt>
                  <c:pt idx="2">
                    <c:v>Détroits et canaux</c:v>
                  </c:pt>
                  <c:pt idx="3">
                    <c:v>Infrastructure numérique</c:v>
                  </c:pt>
                  <c:pt idx="4">
                    <c:v>Approvisionnements critiques</c:v>
                  </c:pt>
                  <c:pt idx="5">
                    <c:v>Infrastructure énergétique</c:v>
                  </c:pt>
                  <c:pt idx="6">
                    <c:v>Autres infrastructures</c:v>
                  </c:pt>
                  <c:pt idx="7">
                    <c:v>Portes aéro-cargo</c:v>
                  </c:pt>
                  <c:pt idx="8">
                    <c:v>Systèmes stratégiques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75</c:v>
                </c:pt>
                <c:pt idx="1">
                  <c:v>51</c:v>
                </c:pt>
                <c:pt idx="2">
                  <c:v>45</c:v>
                </c:pt>
                <c:pt idx="3">
                  <c:v>36</c:v>
                </c:pt>
                <c:pt idx="4">
                  <c:v>32</c:v>
                </c:pt>
                <c:pt idx="5">
                  <c:v>26</c:v>
                </c:pt>
                <c:pt idx="6">
                  <c:v>23</c:v>
                </c:pt>
                <c:pt idx="7">
                  <c:v>18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1C26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1C26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Sur quoi cela repose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base de données de corridors instrumentée, trois méthodes qui s’enchaînent, et ce qu’elles refusent de prétendre.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· FR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socle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Avant la méthode, la base. Ce que nous avons recensé, d’où cela vient, et ce que nous en dérivons.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29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Nous ne produisons pas des notes à partir de la presse. Nous interrogeons une base de corridors que nous tenons.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Chaque analyse part d’objets recensés, sourcés et versionnés, pas d’une recherche recommencée à chaque dossier. C’est ce qui permet de comparer deux corridors, de suivre une évolution, et de répondre le lendemain à la question posée la veille.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29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L’ordre de grandeur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313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OBJETS RECENSÉS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Détroits, canaux, ports, points de passage terrestres, câbles, infrastructures énergétiques et numériques.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190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AU REGISTRE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04360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Chacune porte son niveau de fiabilité et son régime de licence : usage, extraction, stockage.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MOTEURS DÉRIVÉS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50352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CVI, contrôle, corroboration, résilience, réseau, arme-abilité, pression événementielle, perte commerciale exposée…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Recensé n’est pas validé : la promotion d’un objet en priorité P0 exige des preuves sourcées et une validation humaine. 22 objets y sont aujourd’hui.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29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« corridor » recouvre réellement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2194560"/>
          <a:ext cx="10872216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corridor n’est pas une route maritime. Les trois quarts du corpus ne sont pas des détroits — ce sont des ports, des passages terrestres, des câbles et des installations énergétiques.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29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provenance est une contrainte, pas une annexe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Chaque source entre au registre avec son niveau de fiabilité et son régime de licence. Une source dont la licence interdit l’extraction est mise en quarantaine par le chargeur : elle n’entre pas dans la base, elle ne se retrouve pas dans un livrable par inadvertance.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canonique et le dérivé sont séparés jusque dans les droits de la base : les moteurs analytiques tournent sous un rôle en lecture seule sur les données canoniques. Une analyse ne peut pas, structurellement, réécrire le fait dont elle part.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corpus n’est pas figé : chaque changement de schéma est une migration versionnée, et chaque décision d’architecture est écrite avant d’être appliquée.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505456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DISCIPLINE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n’est pas de la rigueur affichée : c’est ce qui rend une affirmation réfutable six mois plus tard.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29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la base calcule d’elle-même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 et arme-abilité : qui tient un nœud, et jusqu’où ce pouvoir est instrumentalisable.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Corroboration : combien de sources indépendantes soutiennent une affirmation, et lesquelles la contredisent.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Résilience et réseau : ce qui tombe en second si le premier nœud cède, et par quel chemin.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Perte commerciale exposée : l’ordre de grandeur du flux réellement en jeu, pas le volume total du corridor.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Pression événementielle : l’écart entre l’activité observée et sa ligne de base.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sorties dérivées sont des candidats : elles alimentent le jugement, elles ne le remplacent pas, et elles ne modifient jamais l’enregistrement canonique.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29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qui bouge, et comment nous le laissons entrer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Agrégation de presse par corridor, avec détection des pics d’attention médiatique.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 GDELT brut pour la couverture événementielle mondiale.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Consensus de marchés prédictifs, rattaché à un corridor par un juge LLM, puis planché à deux marchés minimum.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porte robots.txt sur toute collecte : ce que l’éditeur refuse, nous ne le prenons pas.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plancher de cardinalité est récent et il coûte : il a retiré son bloc de consensus à Panama, notre corridor le plus visible. Un signal adossé à un seul marché n’est pas un consensus, même quand il arrange.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29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L’interface de lecture est un contrat versionné, épinglé chez le consommateur, et gardé par un test qui casse le build.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40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POINTS D’ACCÈS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SCHÉMAS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0.18.0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CONTRAT ÉPINGLÉ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rupture de contrat n’est pas découverte en production : elle est détectée à la compilation, des deux côtés, avant d’être servie.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29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Mesurer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CVI : huit dimensions pour qualifier la vulnérabilité d’un corridor, et une règle dure sur les scores.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29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CVI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Huit dimensions, et la question que chacune pose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Quels flux dépendent du corridor 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Concentration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Existe-t-il des alternatives crédibles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Menace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Quels acteurs/événements peuvent perturber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 de perturbation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Ces acteurs ont-ils les moyens réels de perturber 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Résilience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Combien de temps pour contourner/réparer/absorber 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Coût de contournement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 coût économique, logistique, assurantiel ou politique 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Gouvernance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 peut sécuriser/coordonner/stabiliser 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031986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34906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Incertitude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34906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ne sait-on pas, avec quel niveau de confiance 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CVI ne compresse pas ces huit questions en un chiffre unique tant que la pondération n’est pas documentée et publiée.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29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CVI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l’échelle vous donne, niveau par niveau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et Basic — un diagnostic qualitatif, bas → critique : de quoi situer un corridor et le comparer à un autre.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— un score 0–5 par dimension : de quoi voir OÙ se loge la vulnérabilité, et donc sur quoi agir.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— un score agrégé 0–100, pondéré pour le contexte du client, dès lors que la méthodologie est documentée.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tous les niveaux, chaque score affiche ses sources, sa date, son niveau de confiance et ses incertitudes.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score global 0–100 sans documentation méthodologique publiée.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probabilité de rupture : nous n’en produisons pas.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valeur navigationnelle ni juridique dans la géométrie des cartes.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indice qui ne dit pas ses limites n’est pas un indice, c’est une opinion chiffrée.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29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Révéler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HDDE : un entretien guidé qui remonte du fournisseur déclaré jusqu’au nœud qui contraint réellement.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29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fournisseur qu’une entreprise déclare est presque toujours le mauvais objet d’analyse.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HDDE part de l’acteur visible et remonte : quelle est la nature réelle de la dépendance, quel flux est en jeu, qui peut le bloquer, et à quelle vitesse une rupture atteint le client. L’entretien est guidé parce que la dépendance cachée ne se déclare pas spontanément — elle se déduit.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29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L’entretien, en onze temps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Cadrage du cas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Périmètre, acteur visible de départ, question de décision.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Acteur critique visible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fournisseur, l’organe ou le point de passage déclaré.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Nature de la dépendance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Contractuelle, technique, financière, réglementaire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 critique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flux physique, informationnel ou financier réellement en jeu.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Substitution réelle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alternative crédible existe-t-elle, à quel coût, en quel délai 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Dépendances cachées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Fournisseurs de second rang, juridictions, nœuds invisibles.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 et nuisance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Gatekeepers, régulateurs, assureurs, acteurs de perturbation.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03198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34906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Temporalité d’impact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34906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quelle vitesse une rupture se propage jusqu’au client.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61288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Seuils de décision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61288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niveaux à partir desquels préparer, agir ou escalader.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49574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952494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team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952494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Mise à l’épreuve contradictoire du diagnostic avant conclusion.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0780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3700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Synthèse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743700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Packet de diagnostic traçable, source par source.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Onze temps, pas un questionnaire : chaque bloc conditionne la pertinence du suivant, et la red team précède toujours la conclusion.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29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Neuf dimensions de diagnostic, notées 0–5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Dépendance à l’acteur visible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quel point l’entreprise dépend-elle de l’acteur déclaré 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7997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82896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Dépendance cachée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82896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Quelle exposition passe par des nœuds non visibles en amont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0158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04504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Faiblesse de substitution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04504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remplacement est-il crédible, rapide, soutenable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8368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61288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Exposition juridictionnelle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61288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Quelles juridictions peuvent contraindre ou bloquer le flux 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7997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82896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Criticité du flux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82896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rupture met-elle en jeu l’activité elle-même 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01584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04504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Pression temporelle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04504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Combien de temps avant que l’impact atteigne le client 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61288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Pression des gatekeepers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61288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 pouvoir de contrôle ou de nuisance des intermédiaires 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79976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82896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Qualité de preuve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82896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diagnostic repose-t-il sur des preuves fiables et validées 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01584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04504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Préparation décisionnelle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04504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L’entreprise est-elle prête à décider face à cette exposition 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huitième dimension note la solidité des sept autres : un diagnostic peut être alarmant et mal étayé, et il faut que cela se voie.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29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L’échelle de preuve, et ce qu’elle refuse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15568" y="2328672"/>
            <a:ext cx="2194560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219456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officielle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259080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15568" y="272491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84448" y="259080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298704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15568" y="312115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98704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Donnée logistique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338328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115568" y="351739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4448" y="338328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Clause d’assurance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77952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15568" y="3913632"/>
            <a:ext cx="1316736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377952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fournisseur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417576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115568" y="4309872"/>
            <a:ext cx="1316736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84448" y="417576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analyste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457200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115568" y="4706112"/>
            <a:ext cx="877824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57200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Déclaration 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496824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115568" y="5102352"/>
            <a:ext cx="877824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84448" y="496824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 de veille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8368" y="536448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115568" y="5498592"/>
            <a:ext cx="438912" cy="128016"/>
          </a:xfrm>
          <a:prstGeom prst="rect">
            <a:avLst/>
          </a:prstGeom>
          <a:solidFill>
            <a:srgbClr val="C8282C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84448" y="536448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Suggestion LLM — non recevable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modèle propose et conteste ; il n’atteste rien. Une suggestion LLM n’est jamais admissible comme preuve, quel que soit son aplomb.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 / 29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qui sort de l’entretien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packet de diagnostic versionné, avec le hash du pack méthodologique qui l’a produit.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matrice de dépendance et de contrôle : qui tient quoi, et par quel levier.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couche d’action légère : ce qui est faisable maintenant, à quel coût, avec quel effet.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diff entre deux versions : ce qui a changé depuis le dernier entretien, et pourquoi.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 exports FR et EN, et le JSON canonique du packet.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packet est daté et rejouable. Six mois plus tard, on peut dire ce qui était su, quand, et sur quelle preuve.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 / 29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Arbitrer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: sept temps, sept critères pondérés, quatre issues — et une condition d’arrêt obligatoire.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 / 29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Sept temps, et le garde-fou de chacun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Voir la situation réelle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situation est posée sans la réponse.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Évaluer les forces externes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PESTEL encyclopédique.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Révéler position, contraintes et asymétries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force sans preuve devient une hypothèse.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Définir les options décisionnelles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 minimale et opposée/non-action obligatoires.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Interroger hypothèses, preuves et biais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Preuve et contre-argument explicités.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Comparer par score, risques et vetos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score n’est pas la décision ; les vetos sont vérifiés.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Trancher, tester ou différer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 d’arrêt obligatoire.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L’ordre est contraignant : on ne compare pas des options avant de les avoir définies, et on ne les définit pas avant d’avoir posé la situation sans sa réponse.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/ 29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Sept critères pondérés sur cent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Valeur stratégique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93008" y="2366990"/>
            <a:ext cx="237744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98464" y="2194560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2194560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L’option améliore-t-elle réellement la situation 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704011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Adéquation au contexte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93008" y="2876441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98464" y="2704011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704011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Résiste-t-elle aux forces externes 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213463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 réelle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93008" y="3385893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98464" y="3213463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3213463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Avons-nous vraiment les moyens d’exécuter 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722914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Viabilité systémique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493008" y="3895344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98464" y="3722914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3722914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Peut-elle fonctionner comme un système réel 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4232366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Risque net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93008" y="4404795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98464" y="4232366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4232366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risque est-il acceptable au regard du gain 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741817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Niveau de preuve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93008" y="4914247"/>
            <a:ext cx="118872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8464" y="4741817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4741817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Repose-t-elle sur des preuves solides 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" y="5251269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Optionalité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93008" y="5423698"/>
            <a:ext cx="118872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98464" y="5251269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5251269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Ouvre-t-elle plus de portes qu’elle n’en ferme 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pondération est affichée avant l’évaluation, pas ajustée après. Un poids que l’on découvre à la fin est un résultat déguisé en méthode.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 / 29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Quatre issues, et la bande de score qui y mène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≥ 80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Engager. Preuve ≥ 4, aucun veto, validation humaine.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65–79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43700" y="2194560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43700" y="2688336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Engager un test falsifiable, borné, avec sa condition d’arrêt.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50–64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61288" y="4087368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DIFFÉRER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1288" y="4581144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preuve manque ou le contexte n’est pas mûr. On fixe la date de revue.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50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43700" y="4087368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ABANDONNER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43700" y="4581144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L’option ne tient pas. On l’écrit, pour ne pas la reprendre dans six mois.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Différer et abandonner sont des décisions, pas des échecs de la méthode. Un protocole qui ne peut produire que « faire » ne sert à rien.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 / 29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qui écrase le score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Vetos durs, audités séparément : un score élevé ne survit pas à une impossibilité réglementaire, financière ou capacitaire.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Ajustements explicites et bornés, appliqués comme des pénalités raisonnées, jamais comme un arrondi.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Trois options minimum, dont une alternative minimale et l’opposée ou la non-action.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 d’arrêt obligatoire : à quoi reconnaît-on que la décision était mauvaise, et à quelle date on regarde.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option n’est retenue sur le seul score.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conclusion n’est rendue sans passage en red team contradictoire.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décision n’est prise par le modèle : la validation est humaine et nominative.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 / 29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score n’est pas la décision. Il est ce sur quoi la décision devra s’expliquer.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ne produit pas un arbitrage automatique : il produit un arbitrage argumenté, avec ses hypothèses, ses preuves, ses contradictions et sa date de revue. La responsabilité reste entière, et c’est le but.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 / 29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Dérouler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méthode appliquée à Malacca, sur sources publiques. Une illustration, pas un diagnostic publié.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25 / 29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DÉROULER · 1/3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corridor, et ce qui y circule vraiment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Malacca n’est pas une route, c’est un rétrécissement. Le passage contraignant est le chenal de Phillips, quelques kilomètres devant Singapour — et c’est là que se concentre tout ce qui suit.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premier travail n’est pas d’estimer un risque, c’est d’établir ce qui passe. Volume de brut, part destinée à un seul importateur, nombre de transits, débit conteneurisé du hub adjacent : quatre mesures institutionnelles, toutes sourcées, aucune dérivée.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cette étape, tout ce qui suit serait une opinion sur une géographie.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505456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MESURÉ, SOURCÉ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Brut transitant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23,2 Mb/j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importée par la Chine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48 %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Transits (Malacca + Singapour)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94 301 / 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Débit conteneurs du hub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41,1 M EVP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Illustration de méthode sur sources publiques — ce n’est pas un diagnostic publié. La fiche Atlas correspondante est en cours de validation humaine. Sources : US EIA, World Oil Transit Chokepoints (1ᵉʳ semestre 2025) ; MPA Singapore, Annual Report 2024.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/ 29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DÉROULER · 2/3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Où se cache la dépendance — et ce que personne ne documente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question naïve est « peut-on passer ailleurs ? ». La réponse est oui : Lombok est profond et permissif, il accueille des navires que Malacca refuse. La contrainte n’est donc pas le tirant d’eau.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contrainte est la flotte. Un détour de +300 à +1 000 milles réduit le nombre de rotations annuelles et immobilise davantage de navires : le report bute sur l’absorption systémique, pas sur la géographie. La seule alternative chiffrée, le pipeline Chine–Myanmar, couvre environ 2 % du débit du détroit.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 le résultat le plus utile de l’analyse est une absence : aucune source publique ne chiffre la capacité résiduelle d’absorption. Nous l’écrivons.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92608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SUBSTITUTION, EXAMINÉE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Profondeur de Lombok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1 000 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Allongement de route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+1 à +4 j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Chine–Myanmar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400 kb/j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du débit couverte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2 %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4905" y="4572000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 résiduelle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64724" y="4572000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non documentée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Illustration de méthode sur sources publiques — ce n’est pas un diagnostic publié. La fiche Atlas correspondante est en cours de validation humaine. Sources : Reuters (2017) et Global Energy Monitor pour la capacité du pipeline ; l’allongement de route est une modélisation, pas une donnée officielle.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27 / 29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DÉROULER · 3/3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seuil, et la décision qu’il déclenche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diagnostic qui ne dit pas à quoi regarder demain matin n’a servi à rien. Chaque seuil lie un indicateur observable à une bascule de régime et à l’action qu’elle implique.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Ils sont explicitement classés : adossé à des sources vérifiées, partiel, ou repère hypothétique. Un seuil hypothétique reste utile — à condition qu’il ne se fasse pas passer pour une mesure.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croisement compte plus que le franchissement isolé : une chute de volume simultanée à une hausse d’incidents signale un basculement durable, là où chaque signal pris seul reste conjoncturel.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92608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REPÈRES DE DÉCISION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Recul du flux de brut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15 %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Recul des transits (4 sem.)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20 %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Incidents SOMS soutenus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≥ 1 / sem. ×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Blocage physique continu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72 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4905" y="4572000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Incidents SOMS 2025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64724" y="4572000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108 (+74 %)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Illustration de méthode sur sources publiques — ce n’est pas un diagnostic publié. La fiche Atlas correspondante est en cours de validation humaine. Source : ReCAAP ISC, Annual Report 2025. Les seuils sont des repères de décision — une analyse, jamais une mesure.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 / 29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Aller plus loin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méthode complète, corridor par corridor, s’instruit dans un pilote Premium fermé de six à huit semaines.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L’entretien de cadrage précède toute proposition — il sert autant à qualifier la demande qu’à la refuser si elle ne relève pas de nous.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29 / 29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Méthode</dc:title>
  <dc:subject>Le socle de données chokepoints, la méthode CVI, le diagnostic HDDE et le protocole d’arbitrage VERDICT.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