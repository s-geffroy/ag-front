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objects</c:v>
                </c:pt>
              </c:strCache>
            </c:strRef>
          </c:tx>
          <c:spPr>
            <a:solidFill>
              <a:srgbClr val="0F3C4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1C26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Port gateways</c:v>
                  </c:pt>
                  <c:pt idx="1">
                    <c:v>Land crossings</c:v>
                  </c:pt>
                  <c:pt idx="2">
                    <c:v>Straits and canals</c:v>
                  </c:pt>
                  <c:pt idx="3">
                    <c:v>Digital infrastructure</c:v>
                  </c:pt>
                  <c:pt idx="4">
                    <c:v>Critical supply</c:v>
                  </c:pt>
                  <c:pt idx="5">
                    <c:v>Energy infrastructure</c:v>
                  </c:pt>
                  <c:pt idx="6">
                    <c:v>Other infrastructure</c:v>
                  </c:pt>
                  <c:pt idx="7">
                    <c:v>Air-cargo gateways</c:v>
                  </c:pt>
                  <c:pt idx="8">
                    <c:v>Strategic systems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75</c:v>
                </c:pt>
                <c:pt idx="1">
                  <c:v>51</c:v>
                </c:pt>
                <c:pt idx="2">
                  <c:v>45</c:v>
                </c:pt>
                <c:pt idx="3">
                  <c:v>36</c:v>
                </c:pt>
                <c:pt idx="4">
                  <c:v>32</c:v>
                </c:pt>
                <c:pt idx="5">
                  <c:v>26</c:v>
                </c:pt>
                <c:pt idx="6">
                  <c:v>23</c:v>
                </c:pt>
                <c:pt idx="7">
                  <c:v>18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1C26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41C26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mailto:contact@applied-geopolitics.com" TargetMode="External"/><Relationship Id="rId2" Type="http://schemas.openxmlformats.org/officeDocument/2006/relationships/hyperlink" Target="https://www.applied-geopolitics.com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2212848"/>
            <a:ext cx="182880" cy="182880"/>
          </a:xfrm>
          <a:prstGeom prst="diamond">
            <a:avLst/>
          </a:prstGeom>
          <a:solidFill>
            <a:srgbClr val="C8282C"/>
          </a:solidFill>
          <a:ln w="12700">
            <a:solidFill>
              <a:srgbClr val="C828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2615184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this rests on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658368" y="3986784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instrumented corridor database, three methods that chain into one another, and what they refuse to claim.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METHOD · EN · 2026-08-10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substrate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the method, the database. What we have catalogued, where it comes from, and what we derive from it.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29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SUBSTRATE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We do not write notes off the back of the news. We query a corridor database that we maintain.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analysis starts from catalogued, sourced, versioned objects — not from research restarted for each engagement. That is what makes two corridors comparable — the same grid, applied the same way — what makes a change trackable, and what lets us answer tomorrow the question that was asked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29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SUBSTRATE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order of magnitude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313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58368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CATALOGUED OBJECTS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572000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Straits, canals, ports, land crossings, cables, energy and digital infrastructure.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04360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04360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190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4404360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REGISTERED SOURCES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04360" y="4572000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carries its reliability level and its licence regime: use, extraction, storage.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50352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0352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8150352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DERIVATION ENGINES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150352" y="4572000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CVI, control, corroboration, resilience, network, weaponizability, event pressure, exposed trade loss…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Catalogued is not validated: promoting an object to P0 requires sourced evidence and human validation. 30 objects are there today. That figure describes the instructed corpus — the base also serves 2,218 objects, most of which have had no analytical treatment at all.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29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SUBSTRATE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“corridor” actually covers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58368" y="2194560"/>
          <a:ext cx="10872216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corridor is not a shipping lane. Three quarters of the corpus are not straits — they are ports, land crossings, cables and energy installations.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29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SUBSTRATE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Provenance is a constraint, not an appendix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608844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source enters the registry with its reliability level and its licence regime. A source whose licence forbids extraction is quarantined by the loader: it never enters the database, and it cannot turn up in a deliverable by accident.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Canonical and derived are separated all the way down into database privileges: the analytics engines run under a role that is read-only on canonical data. An analysis cannot, structurally, rewrite the fact it started from.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corpus is not frozen: every schema change is a versioned migration, and every architectural decision is written down before it is applied.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04009" y="2194560"/>
            <a:ext cx="4326575" cy="292608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14905" y="2468880"/>
            <a:ext cx="3704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DISCIPLINE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14905" y="2889504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Registered sources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764724" y="2889504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14905" y="3310128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Derivation engines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64724" y="3310128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14905" y="3730752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architectural decisions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64724" y="3730752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14905" y="4151376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Versioned migrations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64724" y="4151376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14905" y="4572000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Pinned read contract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764724" y="4572000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0.18.0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not rigour on display: it is what makes a claim refutable six months later. The read interface is itself a versioned contract, pinned on the consumer side: a break is caught at compile time, on both sides, never in production.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29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SUBSTRATE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the database computes on its own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and weaponizability: who holds a node, and how far that power can be instrumentalised.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Corroboration: how many independent sources support a claim, and which ones contradict it.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Resilience and network: what falls second if the first node gives way, and along which path.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Exposed trade loss: the order of magnitude of the flow actually at stake, not the corridor’s total volume.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pressure: the gap between observed activity and its own baseline.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Derived outputs are candidates: they inform judgement, they do not replace it, and they never modify the canonical record.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29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SUBSTRATE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moves, and how we let it in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Per-corridor press aggregation, with media attention spike detection.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GDELT feed for worldwide event coverage.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Prediction-market consensus, attached to a corridor by an LLM judge, then floored at two markets minimum.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robots.txt gate on all collection: what a publisher refuses, we do not take.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cardinality floor is recent and it costs: it removed the consensus block from Panama, our most visible corridor. A signal backed by a single market is not a consensus, however convenient.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29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Measure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CVI: eight dimensions to qualify a corridor’s vulnerability, and one hard rule about scores.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29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CVI METHOD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Eight dimensions, and the question each one asks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61288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Exposition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61288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Quels flux dépendent du corridor 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49574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52494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Concentration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952494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Existe-t-il des alternatives crédibles 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40780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43700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Menace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43700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Quels acteurs/événements peuvent perturber 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31986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34906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Capacité de perturbation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34906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Ces acteurs ont-ils les moyens réels de perturber ?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61288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Résilience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61288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Combien de temps pour contourner/réparer/absorber 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49574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52494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Coût de contournement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52494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Quel coût économique, logistique, assurantiel ou politique 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40780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3700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Gouvernance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743700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 peut sécuriser/coordonner/stabiliser 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031986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534906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Incertitude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534906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 ne sait-on pas, avec quel niveau de confiance ?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CVI does not compress those eight questions into a single number until the weighting is documented and published.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29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CVI METHOD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the scale gives you, tier by tier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and Basic — a qualitative diagnosis, low → critical: enough to place a corridor and compare it to another.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— a 0–5 score per dimension: enough to see WHERE the vulnerability sits, and therefore what to act on.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— an aggregate 0–100 score weighted for the client’s context. That condition is not met today: until the weighting is documented and published, the aggregate is not computed, and the engine does not serve it.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every tier, each score carries its sources, its date, its confidence level and its uncertainties.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aggregate 0–100 score without published methodological documentation.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probability of disruption: we do not produce them.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navigational or legal precision in map geometry.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of 2026-08-10: 6 instructed corridors out of 313 carry all eight dimensions, 268 carry only three, and every one of them sits in the top band. The grid discriminates in principle; the base does not discriminate yet in fact.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index that does not state its limits is not an index. It is an opinion with numbers — and the state of the base is one of those limits.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29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III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Surface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HDDE: a guided interview that works back from the declared supplier to the node that actually binds.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29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supplier a company declares is almost always the wrong object of analysis.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HDDE starts from the visible actor and works back: what the dependency actually is, which flow is at stake, who can block it, and how fast a rupture reaches the client. The interview is guided because hidden dependency is never volunteered — it is inferred.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29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interview, in eleven moves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61288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Framing the case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61288" y="2688336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Scope, starting visible actor, decision question.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49574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52494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Critical visible actor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952494" y="2688336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declared supplier, body or point of passage.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40780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43700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Nature of the dependency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43700" y="2688336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Contractual, technical, financial, regulatory?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31986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34906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Critical flow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34906" y="2688336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physical, informational or financial flow actually at stake.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61288" y="3456432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substitution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61288" y="3950208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there a credible alternative, at what cost, in what time?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49574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52494" y="3456432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Hidden dependencies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52494" y="3950208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Second-tier suppliers, jurisdictions, invisible nodes.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40780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3700" y="3456432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and disruption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743700" y="3950208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Gatekeepers, regulators, insurers, disruptive actors.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031986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534906" y="3456432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timing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534906" y="3950208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fast a rupture propagates to the client.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61288" y="4718304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thresholds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61288" y="5212080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levels at which to prepare, act or escalate.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449574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952494" y="4718304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team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952494" y="5212080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Adversarial testing of the diagnosis before any conclusion.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40780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43700" y="4718304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Synthesis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743700" y="5212080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traceable diagnostic packet, source by source.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Eleven moves, not a questionnaire: each block conditions the relevance of the next, and the red team always precedes the conclusion.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29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Nine diagnostic dimensions, scored 0–5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61288" y="21945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Dependency on the visible actor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61288" y="2688336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far does the company depend on the declared actor?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79976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82896" y="21945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Hidden dependency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82896" y="2688336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exposure runs through nodes not visible upstream?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101584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04504" y="21945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Substitution weakness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04504" y="2688336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replacement credible, fast, sustainable?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8368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61288" y="34564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Jurisdictional exposure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61288" y="3950208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jurisdictions can constrain or block the flow?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79976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82896" y="34564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 criticality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82896" y="3950208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a rupture put the business itself at stake?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101584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04504" y="34564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pressure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604504" y="3950208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long before the impact reaches the client?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61288" y="471830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Gatekeeper pressure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61288" y="521208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control or disruption power do intermediaries hold?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379976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82896" y="471830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quality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82896" y="521208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the diagnosis rest on reliable, validated evidence?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101584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604504" y="471830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readiness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604504" y="521208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company ready to decide on this exposure?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eighth dimension scores how solid the other seven are: a diagnosis can be alarming and poorly evidenced, and that has to be visible.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/ 29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evidence scale, and what it refuses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115568" y="2328672"/>
            <a:ext cx="2194560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84448" y="219456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Official source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" y="259080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15568" y="2724912"/>
            <a:ext cx="1755648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84448" y="259080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Contract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8368" y="298704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115568" y="3121152"/>
            <a:ext cx="1755648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98704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Logistics data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" y="338328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115568" y="3517392"/>
            <a:ext cx="1755648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84448" y="338328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Insurance clause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377952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115568" y="3913632"/>
            <a:ext cx="1316736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84448" y="377952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Supplier document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" y="417576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115568" y="4309872"/>
            <a:ext cx="1316736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84448" y="417576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Analyst note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457200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115568" y="4706112"/>
            <a:ext cx="877824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84448" y="457200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statement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" y="496824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115568" y="5102352"/>
            <a:ext cx="877824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84448" y="496824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Monitoring signal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58368" y="536448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115568" y="5498592"/>
            <a:ext cx="438912" cy="128016"/>
          </a:xfrm>
          <a:prstGeom prst="rect">
            <a:avLst/>
          </a:prstGeom>
          <a:solidFill>
            <a:srgbClr val="C8282C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84448" y="536448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trike="sngStrike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suggestion — not admissible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proposes and challenges; it attests to nothing. An LLM suggestion is never admissible as evidence, however confident it sounds.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 / 29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comes out of the interview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versioned diagnostic packet, carrying the hash of the method pack that produced it.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dependency and control matrix: who holds what, and through which lever.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light action layer: what is feasible now, at what cost, to what effect.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diff between two versions: what changed since the last interview, and why.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 and EN exports, plus the canonical JSON packet.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packet is dated and replayable. Six months on, you can say what was known, when, and on what evidence.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 / 29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IV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Arbitrate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VERDICT: seven moves, seven weighted criteria, four outcomes — and a mandatory stop condition.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 / 29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Seven moves, and the guardrail on each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61288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Voir la situation réelle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61288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situation est posée sans la réponse.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49574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52494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Évaluer les forces externes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952494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de PESTEL encyclopédique.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40780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43700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Révéler position, contraintes et asymétries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43700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force sans preuve devient une hypothèse.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31986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34906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Définir les options décisionnelles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34906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Alternative minimale et opposée/non-action obligatoires.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61288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Interroger hypothèses, preuves et biais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61288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Preuve et contre-argument explicités.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49574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52494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Comparer par score, risques et vetos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52494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score n’est pas la décision ; les vetos sont vérifiés.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40780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3700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Trancher, tester ou différer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743700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 d’arrêt obligatoire.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order binds: you do not compare options before defining them, and you do not define them before stating the situation without its answer.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 / 29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Seven criteria, weighted out of one hundred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Valeur stratégique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93008" y="2366990"/>
            <a:ext cx="237744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98464" y="2194560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0" y="2194560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L’option améliore-t-elle réellement la situation 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2704011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Adéquation au contexte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93008" y="2876441"/>
            <a:ext cx="178308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98464" y="2704011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2704011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Résiste-t-elle aux forces externes 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3213463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Capacité réelle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493008" y="3385893"/>
            <a:ext cx="178308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98464" y="3213463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0" y="3213463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Avons-nous vraiment les moyens d’exécuter 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722914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Viabilité systémique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493008" y="3895344"/>
            <a:ext cx="178308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98464" y="3722914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0" y="3722914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Peut-elle fonctionner comme un système réel 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" y="4232366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Risque net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93008" y="4404795"/>
            <a:ext cx="178308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98464" y="4232366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0" y="4232366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risque est-il acceptable au regard du gain 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4741817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Niveau de preuve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493008" y="4914247"/>
            <a:ext cx="118872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8464" y="4741817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0" y="4741817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Repose-t-elle sur des preuves solides ?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58368" y="5251269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Optionalité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493008" y="5423698"/>
            <a:ext cx="118872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98464" y="5251269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83680" y="5251269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Ouvre-t-elle plus de portes qu’elle n’en ferme ?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weighting is shown before the assessment, not tuned after it. A weight discovered at the end is a result dressed up as a method.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 / 29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Four outcomes, and the score band that leads there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≥ 80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61288" y="2194560"/>
            <a:ext cx="47868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61288" y="2688336"/>
            <a:ext cx="47868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Commit. Evidence ≥ 4, no veto, human validation.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240780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60–79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43700" y="2194560"/>
            <a:ext cx="47868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43700" y="2688336"/>
            <a:ext cx="47868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a falsifiable, bounded test, with its stop condition.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40–59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61288" y="4087368"/>
            <a:ext cx="47868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61288" y="4581144"/>
            <a:ext cx="47868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is missing or the context is not ready. Set the review date.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40780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0–39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743700" y="4087368"/>
            <a:ext cx="47868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ABANDON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743700" y="4581144"/>
            <a:ext cx="47868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option does not hold. Write it down, so it is not revived in six months.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Defer and abandon are decisions, not failures of the method. A protocol that can only output “do” is worthless.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 / 29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overrides the score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 vetoes, audited separately: a high score does not survive a regulatory, financial or capacity impossibility.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Explicit, bounded adjustments, applied as reasoned penalties, never as rounding.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least three options, including a minimal alternative and the opposite or doing nothing.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mandatory stop condition: how you will know the decision was wrong, and on what date you look.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option is selected on score alone.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conclusion is issued without an adversarial red-team pass.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decision is taken by the model: validation is human and nominative.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 / 29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score is not the decision. It is what the decision will have to justify itself against.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 does not produce an automatic arbitration: it produces a reasoned one, with its assumptions, its evidence, its contradictions and its review date. Responsibility stays whole, and that is the point.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 / 29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Walk it through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method applied to Malacca, on public sources. An illustration, not a published diagnosis.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 / 29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WALK IT THROUGH · 1/4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corridor, and what actually moves through it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608844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Malacca is not a route, it is a narrowing. The binding passage is the Phillips Channel, a few kilometres off Singapore — and that is where everything that follows concentrates.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task is not to estimate a risk, it is to establish what passes. Crude volume, the share bound for a single importer, transit counts, the adjacent hub’s container throughput: four institutional measures, all sourced, none derived.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this step, everything after it would be an opinion about a geography.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04009" y="2194560"/>
            <a:ext cx="4326575" cy="2505456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14905" y="2468880"/>
            <a:ext cx="3704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MEASURED, SOURCED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14905" y="2889504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Crude in transit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764724" y="2889504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23.2 Mb/d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14905" y="3310128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 imported by China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64724" y="3310128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48%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14905" y="3730752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Transits (Malacca + Singapore)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64724" y="3730752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94,301 / yr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14905" y="4151376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Hub container throughput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64724" y="4151376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41.1 M TEU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Method illustration on public sources — this is not a published diagnosis. The corresponding Atlas entry is still in human validation. Sources: US EIA, World Oil Transit Chokepoints (H1 2025); MPA Singapore, Annual Report 2024.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25 / 29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WALK IT THROUGH · 2/4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Where the dependency hides — and what nobody documents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608844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naive question is “can ships go elsewhere?”. The answer is yes: Lombok is deep and permissive, it takes vessels Malacca turns away. The constraint is therefore not draught.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constraint is the fleet. A detour of 300 to 1,000 nautical miles cuts annual rotations and ties up more vessels: rerouting hits systemic absorption, not geography. The only quantified alternative, the China–Myanmar pipeline, covers roughly 2% of the strait’s throughput.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the most useful result of the analysis is an absence: no public source quantifies residual absorption capacity. We write that down.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04009" y="2194560"/>
            <a:ext cx="4326575" cy="292608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14905" y="2468880"/>
            <a:ext cx="3704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SUBSTITUTION, EXAMINED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14905" y="2889504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Lombok depth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764724" y="2889504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≈ 1,000 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14905" y="3310128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 extension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64724" y="3310128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+1 to +4 days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14905" y="3730752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China–Myanmar pipeline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64724" y="3730752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≈ 400 kb/d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14905" y="4151376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 of throughput covered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64724" y="4151376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≈ 2%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14905" y="4572000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Residual capacity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764724" y="4572000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undocumented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Method illustration on public sources — this is not a published diagnosis. The corresponding Atlas entry is still in human validation. Sources: Reuters (2017) and Global Energy Monitor for pipeline capacity; the route extension is a model, not official data.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26 / 29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WALK IT THROUGH · 3/4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threshold, and the decision it triggers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608844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diagnosis that does not say what to watch tomorrow morning has served no purpose. Each threshold ties an observable indicator to a regime shift and to the action it implies.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are explicitly graded: backed by verified sources, partial, or hypothetical marker. A hypothetical threshold is still useful — provided it does not pass itself off as a measurement.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Crossings matter less than co-occurrence: a volume drop alongside rising incidents signals a durable shift, where either signal alone stays cyclical.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04009" y="2194560"/>
            <a:ext cx="4326575" cy="292608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14905" y="2468880"/>
            <a:ext cx="3704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DECISION MARKERS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14905" y="2889504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Crude flow decline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764724" y="2889504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&gt; 15%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14905" y="3310128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Transit decline (4 wks)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64724" y="3310128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&gt; 20%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14905" y="3730752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Sustained SOMS incidents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64724" y="3730752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≥ 1 / wk ×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14905" y="4151376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physical blockage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64724" y="4151376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&gt; 72 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14905" y="4572000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SOMS incidents 2025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764724" y="4572000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108 (+74%)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Method illustration on public sources — this is not a published diagnosis. The corresponding Atlas entry is still in human validation. Source: ReCAAP ISC, Annual Report 2025. Thresholds are decision markers — an analysis, never a measurement.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27 / 29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WALK IT THROUGH · 4/4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threshold is crossed. What do we do, and how will we know?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608844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crossed threshold is not a decision, it is an entry into the protocol. The situation is stated without its answer, at least three options are defined — the main one, a minimal alternative, and doing nothing — and only then are they compared.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this case, the option “pre-position thirty days of stock on inputs transiting Malacca” comes out with partial evidence: the flows are measured, the residual absorption capacity is not. The score reflects that, deliberately — the weighting gives ten points to the level of proof.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the outcome is not to commit. It is a bounded test whose stop condition is written before it starts: what will tell us the decision was wrong, and on what date we look.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04009" y="2194560"/>
            <a:ext cx="4326575" cy="292608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14905" y="2468880"/>
            <a:ext cx="3704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ARBITRATION, AS IT COMES OUT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14905" y="2889504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Triggering threshold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764724" y="2889504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-15 % crude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14905" y="3310128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Options compared, incl. non-action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64724" y="3310128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14905" y="3730752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Level of proof retained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64724" y="3730752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/ 5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14905" y="4151376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 vetoes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64724" y="4151376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14905" y="4572000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764724" y="4572000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60–79 · TEST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Method illustration on public sources — this is not a published diagnosis. The corresponding Atlas entry is still in human validation. The score is not the decision: it is what the decision will have to justify itself against. Validation stays human and named.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28 / 29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031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Going further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58368" y="3054096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full method, corridor by corridor, is run inside a closed six-to-eight-week Premium pilot.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framing interview precedes any proposal — it exists as much to qualify the request as to decline it if it is not ours to take.</a:t>
            </a:r>
            <a:endParaRPr lang="en-US" sz="1400" dirty="0"/>
          </a:p>
        </p:txBody>
      </p:sp>
      <p:sp>
        <p:nvSpPr>
          <p:cNvPr id="23" name="Text 21">
            <a:hlinkClick r:id="rId1" tooltip=""/>
          </p:cNvPr>
          <p:cNvSpPr/>
          <p:nvPr/>
        </p:nvSpPr>
        <p:spPr>
          <a:xfrm>
            <a:off x="658368" y="44439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4F6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contact@applied-geopolitics.com</a:t>
            </a:r>
            <a:endParaRPr lang="en-US" sz="1400" dirty="0"/>
          </a:p>
        </p:txBody>
      </p:sp>
      <p:sp>
        <p:nvSpPr>
          <p:cNvPr id="24" name="Text 22">
            <a:hlinkClick r:id="rId2" tooltip=""/>
          </p:cNvPr>
          <p:cNvSpPr/>
          <p:nvPr/>
        </p:nvSpPr>
        <p:spPr>
          <a:xfrm>
            <a:off x="658368" y="482803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4F6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www.applied-geopolitics.com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29 / 29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Applied Geopolitics — LucidAxis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Applied Geopolitics — Method</dc:title>
  <dc:subject>The chokepoints data substrate, the CVI method, the HDDE diagnosis and the VERDICT arbitration protocol.</dc:subject>
  <dc:creator>Applied Geopolitics</dc:creator>
  <cp:lastModifiedBy>Applied Geopolitics</cp:lastModifiedBy>
  <cp:revision>2026-08-10</cp:revision>
  <dcterms:created xsi:type="dcterms:W3CDTF">2026-08-10T00:00:00Z</dcterms:created>
  <dcterms:modified xsi:type="dcterms:W3CDTF">2026-08-10T00:00:00Z</dcterms:modified>
</cp:coreProperties>
</file>