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hyperlink" Target="mailto:contact@applied-geopolitics.com" TargetMode="External"/><Relationship Id="rId2" Type="http://schemas.openxmlformats.org/officeDocument/2006/relationships/hyperlink" Target="https://www.applied-geopolitics.com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C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914400"/>
            <a:ext cx="12188952" cy="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1828800"/>
            <a:ext cx="12188952" cy="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2743200"/>
            <a:ext cx="12188952" cy="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3657600"/>
            <a:ext cx="12188952" cy="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572000"/>
            <a:ext cx="12188952" cy="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5486400"/>
            <a:ext cx="12188952" cy="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6400800"/>
            <a:ext cx="12188952" cy="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8368" y="2212848"/>
            <a:ext cx="182880" cy="182880"/>
          </a:xfrm>
          <a:prstGeom prst="diamond">
            <a:avLst/>
          </a:prstGeom>
          <a:solidFill>
            <a:srgbClr val="C8282C"/>
          </a:solidFill>
          <a:ln w="12700">
            <a:solidFill>
              <a:srgbClr val="C8282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2615184"/>
            <a:ext cx="9509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4F6F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Applied Geopolitics</a:t>
            </a:r>
            <a:endParaRPr lang="en-US" sz="4400" dirty="0"/>
          </a:p>
        </p:txBody>
      </p:sp>
      <p:sp>
        <p:nvSpPr>
          <p:cNvPr id="23" name="Text 21"/>
          <p:cNvSpPr/>
          <p:nvPr/>
        </p:nvSpPr>
        <p:spPr>
          <a:xfrm>
            <a:off x="658368" y="3986784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D3DB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Géopolitique des corridors stratégiques et des flux de puissance.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58368" y="5943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60" kern="0" dirty="0">
                <a:solidFill>
                  <a:srgbClr val="BFCAD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PLAQUETTE · FR · 2026-08-10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10872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60" kern="0" dirty="0">
                <a:solidFill>
                  <a:srgbClr val="C828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LE PROBLÈME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58368" y="1371600"/>
            <a:ext cx="10872216" cy="3200400"/>
          </a:xfrm>
          <a:prstGeom prst="rect">
            <a:avLst/>
          </a:prstGeom>
          <a:solidFill>
            <a:srgbClr val="FCFDFE"/>
          </a:solidFill>
          <a:ln w="12700">
            <a:solidFill>
              <a:srgbClr val="D3DB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1828800"/>
            <a:ext cx="155448" cy="155448"/>
          </a:xfrm>
          <a:prstGeom prst="diamond">
            <a:avLst/>
          </a:prstGeom>
          <a:solidFill>
            <a:srgbClr val="0F3C4E"/>
          </a:solidFill>
          <a:ln w="12700">
            <a:solidFill>
              <a:srgbClr val="0F3C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3856" y="2212848"/>
            <a:ext cx="94091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141C2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Une entreprise connaît ses fournisseurs. Elle ignore par quels corridors ils dépendent, eux, de quelqu’un d’autre.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133856" y="3602736"/>
            <a:ext cx="940917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dépendance déclarée est contractuelle et lisible. La dépendance réelle passe par des points de passage, des juridictions et des assureurs que personne n’a inscrits au registre des risques.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433304" y="61447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87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/ 16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10872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60" kern="0" dirty="0">
                <a:solidFill>
                  <a:srgbClr val="5C687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LA DOCTRINE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786384"/>
            <a:ext cx="1087221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141C2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Du corridor à la décision, en sept temps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434955" y="3557016"/>
            <a:ext cx="9319042" cy="0"/>
          </a:xfrm>
          <a:prstGeom prst="line">
            <a:avLst/>
          </a:prstGeom>
          <a:noFill/>
          <a:ln w="12700">
            <a:solidFill>
              <a:srgbClr val="0F3C4E">
                <a:alpha val="55000"/>
              </a:srgbClr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352659" y="3474720"/>
            <a:ext cx="164592" cy="164592"/>
          </a:xfrm>
          <a:prstGeom prst="diamond">
            <a:avLst/>
          </a:prstGeom>
          <a:solidFill>
            <a:srgbClr val="F4F6F8"/>
          </a:solidFill>
          <a:ln w="19050">
            <a:solidFill>
              <a:srgbClr val="0F3C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3767328"/>
            <a:ext cx="155317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87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4005072"/>
            <a:ext cx="15531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spc="80" kern="0" dirty="0">
                <a:solidFill>
                  <a:srgbClr val="141C2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CORRIDORS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905833" y="3474720"/>
            <a:ext cx="164592" cy="164592"/>
          </a:xfrm>
          <a:prstGeom prst="diamond">
            <a:avLst/>
          </a:prstGeom>
          <a:solidFill>
            <a:srgbClr val="F4F6F8"/>
          </a:solidFill>
          <a:ln w="19050">
            <a:solidFill>
              <a:srgbClr val="0F3C4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11542" y="3767328"/>
            <a:ext cx="155317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87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11542" y="4005072"/>
            <a:ext cx="15531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spc="80" kern="0" dirty="0">
                <a:solidFill>
                  <a:srgbClr val="141C2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FLUX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59006" y="3474720"/>
            <a:ext cx="164592" cy="164592"/>
          </a:xfrm>
          <a:prstGeom prst="diamond">
            <a:avLst/>
          </a:prstGeom>
          <a:solidFill>
            <a:srgbClr val="F4F6F8"/>
          </a:solidFill>
          <a:ln w="19050">
            <a:solidFill>
              <a:srgbClr val="0F3C4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64715" y="3767328"/>
            <a:ext cx="155317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87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764715" y="4005072"/>
            <a:ext cx="15531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spc="80" kern="0" dirty="0">
                <a:solidFill>
                  <a:srgbClr val="141C2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DÉPENDANCES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12180" y="3474720"/>
            <a:ext cx="164592" cy="164592"/>
          </a:xfrm>
          <a:prstGeom prst="diamond">
            <a:avLst/>
          </a:prstGeom>
          <a:solidFill>
            <a:srgbClr val="F4F6F8"/>
          </a:solidFill>
          <a:ln w="19050">
            <a:solidFill>
              <a:srgbClr val="0F3C4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17889" y="3767328"/>
            <a:ext cx="155317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87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317889" y="4005072"/>
            <a:ext cx="15531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spc="80" kern="0" dirty="0">
                <a:solidFill>
                  <a:srgbClr val="141C2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VULNÉRABILITÉS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565354" y="3474720"/>
            <a:ext cx="164592" cy="164592"/>
          </a:xfrm>
          <a:prstGeom prst="diamond">
            <a:avLst/>
          </a:prstGeom>
          <a:solidFill>
            <a:srgbClr val="F4F6F8"/>
          </a:solidFill>
          <a:ln w="19050">
            <a:solidFill>
              <a:srgbClr val="0F3C4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71063" y="3767328"/>
            <a:ext cx="155317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87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71063" y="4005072"/>
            <a:ext cx="15531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spc="80" kern="0" dirty="0">
                <a:solidFill>
                  <a:srgbClr val="141C2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SEUILS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118527" y="3474720"/>
            <a:ext cx="164592" cy="164592"/>
          </a:xfrm>
          <a:prstGeom prst="diamond">
            <a:avLst/>
          </a:prstGeom>
          <a:solidFill>
            <a:srgbClr val="F4F6F8"/>
          </a:solidFill>
          <a:ln w="19050">
            <a:solidFill>
              <a:srgbClr val="0F3C4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24237" y="3767328"/>
            <a:ext cx="155317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87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424237" y="4005072"/>
            <a:ext cx="15531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spc="80" kern="0" dirty="0">
                <a:solidFill>
                  <a:srgbClr val="141C2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SCÉNARIOS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0671701" y="3474720"/>
            <a:ext cx="164592" cy="164592"/>
          </a:xfrm>
          <a:prstGeom prst="diamond">
            <a:avLst/>
          </a:prstGeom>
          <a:solidFill>
            <a:srgbClr val="C8282C"/>
          </a:solidFill>
          <a:ln w="19050">
            <a:solidFill>
              <a:srgbClr val="C8282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977410" y="3767328"/>
            <a:ext cx="155317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28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977410" y="4005072"/>
            <a:ext cx="15531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80" kern="0" dirty="0">
                <a:solidFill>
                  <a:srgbClr val="C828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DÉCISIONS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58368" y="5815584"/>
            <a:ext cx="9774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i="1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L’ordre est l’argument : on ne saute pas des flux aux décisions sans passer par les seuils.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433304" y="61447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87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/ 16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10872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60" kern="0" dirty="0">
                <a:solidFill>
                  <a:srgbClr val="C828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LE DÉPLACEMENT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58368" y="1371600"/>
            <a:ext cx="10872216" cy="3200400"/>
          </a:xfrm>
          <a:prstGeom prst="rect">
            <a:avLst/>
          </a:prstGeom>
          <a:solidFill>
            <a:srgbClr val="FCFDFE"/>
          </a:solidFill>
          <a:ln w="12700">
            <a:solidFill>
              <a:srgbClr val="D3DB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1828800"/>
            <a:ext cx="155448" cy="155448"/>
          </a:xfrm>
          <a:prstGeom prst="diamond">
            <a:avLst/>
          </a:prstGeom>
          <a:solidFill>
            <a:srgbClr val="0F3C4E"/>
          </a:solidFill>
          <a:ln w="12700">
            <a:solidFill>
              <a:srgbClr val="0F3C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3856" y="2212848"/>
            <a:ext cx="94091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141C2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Dépendance visible n’est pas dépendance critique. Ce qui casse une activité est presque toujours au second rang.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133856" y="3602736"/>
            <a:ext cx="940917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fournisseur déclaré est rarement le nœud contraignant. Derrière lui : un détroit, un régulateur, un assureur, une usine unique — et c’est là que se joue la rupture.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433304" y="61447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87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/ 16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3C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914400"/>
            <a:ext cx="12188952" cy="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1828800"/>
            <a:ext cx="12188952" cy="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2743200"/>
            <a:ext cx="12188952" cy="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3657600"/>
            <a:ext cx="12188952" cy="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572000"/>
            <a:ext cx="12188952" cy="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5486400"/>
            <a:ext cx="12188952" cy="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6400800"/>
            <a:ext cx="12188952" cy="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21214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C828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8368" y="2615184"/>
            <a:ext cx="8778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4F6F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Ce sur quoi cela repose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658368" y="3822192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3DB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 un cabinet qui recommence sa recherche à chaque dossier : une base de corridors que nous tenons, et des méthodes qui s’y appliquent.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433304" y="61447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CAD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/ 16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10872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60" kern="0" dirty="0">
                <a:solidFill>
                  <a:srgbClr val="5C687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LE SOCLE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786384"/>
            <a:ext cx="1087221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141C2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Une base de données, pas une veille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58368" y="2926080"/>
            <a:ext cx="3380232" cy="0"/>
          </a:xfrm>
          <a:prstGeom prst="line">
            <a:avLst/>
          </a:prstGeom>
          <a:noFill/>
          <a:ln w="12700">
            <a:solidFill>
              <a:srgbClr val="BFCAD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3145536"/>
            <a:ext cx="33802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0F3C4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313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658368" y="4242816"/>
            <a:ext cx="338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C828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OBJETS RECENSÉS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404360" y="2926080"/>
            <a:ext cx="3380232" cy="0"/>
          </a:xfrm>
          <a:prstGeom prst="line">
            <a:avLst/>
          </a:prstGeom>
          <a:noFill/>
          <a:ln w="12700">
            <a:solidFill>
              <a:srgbClr val="BFCA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04360" y="3145536"/>
            <a:ext cx="33802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0F3C4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190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4404360" y="4242816"/>
            <a:ext cx="338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C828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SOURCES AU REGISTRE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150352" y="2926080"/>
            <a:ext cx="3380232" cy="0"/>
          </a:xfrm>
          <a:prstGeom prst="line">
            <a:avLst/>
          </a:prstGeom>
          <a:noFill/>
          <a:ln w="12700">
            <a:solidFill>
              <a:srgbClr val="BFCAD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50352" y="3145536"/>
            <a:ext cx="33802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0F3C4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15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8150352" y="4242816"/>
            <a:ext cx="338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C828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MOTEURS DÉRIVÉS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58368" y="5815584"/>
            <a:ext cx="9774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i="1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Recensé n’est pas validé : la promotion en priorité P0 exige des preuves sourcées et une validation humaine. Le détail de la méthode fait l’objet d’une plaquette dédiée.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433304" y="61447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87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 / 16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10872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60" kern="0" dirty="0">
                <a:solidFill>
                  <a:srgbClr val="5C687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MÉTHODE CVI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786384"/>
            <a:ext cx="1087221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141C2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Mesurer une vulnérabilité, sans illusion de précision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58368" y="2478024"/>
            <a:ext cx="384048" cy="274320"/>
          </a:xfrm>
          <a:prstGeom prst="rect">
            <a:avLst/>
          </a:prstGeom>
          <a:solidFill>
            <a:srgbClr val="167858"/>
          </a:solidFill>
          <a:ln w="9525">
            <a:solidFill>
              <a:srgbClr val="BFCAD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2416" y="2478024"/>
            <a:ext cx="384048" cy="274320"/>
          </a:xfrm>
          <a:prstGeom prst="rect">
            <a:avLst/>
          </a:prstGeom>
          <a:solidFill>
            <a:srgbClr val="EAEEF2"/>
          </a:solidFill>
          <a:ln w="9525">
            <a:solidFill>
              <a:srgbClr val="BFCAD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26464" y="2478024"/>
            <a:ext cx="384048" cy="274320"/>
          </a:xfrm>
          <a:prstGeom prst="rect">
            <a:avLst/>
          </a:prstGeom>
          <a:solidFill>
            <a:srgbClr val="EAEEF2"/>
          </a:solidFill>
          <a:ln w="9525">
            <a:solidFill>
              <a:srgbClr val="BFCAD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10512" y="2478024"/>
            <a:ext cx="384048" cy="274320"/>
          </a:xfrm>
          <a:prstGeom prst="rect">
            <a:avLst/>
          </a:prstGeom>
          <a:solidFill>
            <a:srgbClr val="EAEEF2"/>
          </a:solidFill>
          <a:ln w="9525">
            <a:solidFill>
              <a:srgbClr val="BFCA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05456" y="247802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6785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BAS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69664" y="2478024"/>
            <a:ext cx="7360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Alternatives crédibles, faible exposition.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58368" y="3227832"/>
            <a:ext cx="384048" cy="274320"/>
          </a:xfrm>
          <a:prstGeom prst="rect">
            <a:avLst/>
          </a:prstGeom>
          <a:solidFill>
            <a:srgbClr val="167858"/>
          </a:solidFill>
          <a:ln w="9525">
            <a:solidFill>
              <a:srgbClr val="BFCAD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42416" y="3227832"/>
            <a:ext cx="384048" cy="274320"/>
          </a:xfrm>
          <a:prstGeom prst="rect">
            <a:avLst/>
          </a:prstGeom>
          <a:solidFill>
            <a:srgbClr val="A8740E"/>
          </a:solidFill>
          <a:ln w="9525">
            <a:solidFill>
              <a:srgbClr val="BFCAD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26464" y="3227832"/>
            <a:ext cx="384048" cy="274320"/>
          </a:xfrm>
          <a:prstGeom prst="rect">
            <a:avLst/>
          </a:prstGeom>
          <a:solidFill>
            <a:srgbClr val="EAEEF2"/>
          </a:solidFill>
          <a:ln w="9525">
            <a:solidFill>
              <a:srgbClr val="BFCAD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10512" y="3227832"/>
            <a:ext cx="384048" cy="274320"/>
          </a:xfrm>
          <a:prstGeom prst="rect">
            <a:avLst/>
          </a:prstGeom>
          <a:solidFill>
            <a:srgbClr val="EAEEF2"/>
          </a:solidFill>
          <a:ln w="9525">
            <a:solidFill>
              <a:srgbClr val="BFCAD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05456" y="32278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A8740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MODÉRÉ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69664" y="3227832"/>
            <a:ext cx="7360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Dépendance réelle, contournement coûteux.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58368" y="3977640"/>
            <a:ext cx="384048" cy="274320"/>
          </a:xfrm>
          <a:prstGeom prst="rect">
            <a:avLst/>
          </a:prstGeom>
          <a:solidFill>
            <a:srgbClr val="167858"/>
          </a:solidFill>
          <a:ln w="9525">
            <a:solidFill>
              <a:srgbClr val="BFCAD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42416" y="3977640"/>
            <a:ext cx="384048" cy="274320"/>
          </a:xfrm>
          <a:prstGeom prst="rect">
            <a:avLst/>
          </a:prstGeom>
          <a:solidFill>
            <a:srgbClr val="A8740E"/>
          </a:solidFill>
          <a:ln w="9525">
            <a:solidFill>
              <a:srgbClr val="BFCAD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426464" y="3977640"/>
            <a:ext cx="384048" cy="274320"/>
          </a:xfrm>
          <a:prstGeom prst="rect">
            <a:avLst/>
          </a:prstGeom>
          <a:solidFill>
            <a:srgbClr val="C24E12"/>
          </a:solidFill>
          <a:ln w="9525">
            <a:solidFill>
              <a:srgbClr val="BFCAD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810512" y="3977640"/>
            <a:ext cx="384048" cy="274320"/>
          </a:xfrm>
          <a:prstGeom prst="rect">
            <a:avLst/>
          </a:prstGeom>
          <a:solidFill>
            <a:srgbClr val="EAEEF2"/>
          </a:solidFill>
          <a:ln w="9525">
            <a:solidFill>
              <a:srgbClr val="BFCAD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05456" y="39776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24E1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ÉLEVÉ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169664" y="3977640"/>
            <a:ext cx="7360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Peu d’alternatives, seuils proches.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58368" y="4727448"/>
            <a:ext cx="384048" cy="274320"/>
          </a:xfrm>
          <a:prstGeom prst="rect">
            <a:avLst/>
          </a:prstGeom>
          <a:solidFill>
            <a:srgbClr val="167858"/>
          </a:solidFill>
          <a:ln w="9525">
            <a:solidFill>
              <a:srgbClr val="BFCAD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2416" y="4727448"/>
            <a:ext cx="384048" cy="274320"/>
          </a:xfrm>
          <a:prstGeom prst="rect">
            <a:avLst/>
          </a:prstGeom>
          <a:solidFill>
            <a:srgbClr val="A8740E"/>
          </a:solidFill>
          <a:ln w="9525">
            <a:solidFill>
              <a:srgbClr val="BFCAD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426464" y="4727448"/>
            <a:ext cx="384048" cy="274320"/>
          </a:xfrm>
          <a:prstGeom prst="rect">
            <a:avLst/>
          </a:prstGeom>
          <a:solidFill>
            <a:srgbClr val="C24E12"/>
          </a:solidFill>
          <a:ln w="9525">
            <a:solidFill>
              <a:srgbClr val="BFCAD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810512" y="4727448"/>
            <a:ext cx="384048" cy="274320"/>
          </a:xfrm>
          <a:prstGeom prst="rect">
            <a:avLst/>
          </a:prstGeom>
          <a:solidFill>
            <a:srgbClr val="B82622"/>
          </a:solidFill>
          <a:ln w="9525">
            <a:solidFill>
              <a:srgbClr val="BFCAD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05456" y="472744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826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CRITIQUE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169664" y="4727448"/>
            <a:ext cx="7360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Concentration extrême, perturbation systémique.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58368" y="5815584"/>
            <a:ext cx="9774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i="1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Huit dimensions. Chaque score affiche ses sources, sa date, son niveau de confiance et ses incertitudes.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433304" y="61447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87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 / 16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10872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60" kern="0" dirty="0">
                <a:solidFill>
                  <a:srgbClr val="5C687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MÉTHODE CVI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786384"/>
            <a:ext cx="1087221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141C2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Ce que le CVI ne prétend pas être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2194560"/>
            <a:ext cx="87782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100"/>
              </a:spcAft>
              <a:buSzPct val="100000"/>
              <a:buChar char="◊"/>
            </a:pPr>
            <a:r>
              <a:rPr lang="en-US" sz="1500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Règle dure : pas de score global 0–100 sans documentation méthodologique publiée.</a:t>
            </a:r>
            <a:endParaRPr lang="en-US" sz="1500" dirty="0"/>
          </a:p>
          <a:p>
            <a:pPr marL="279400" indent="-279400">
              <a:spcAft>
                <a:spcPts val="1100"/>
              </a:spcAft>
              <a:buSzPct val="100000"/>
              <a:buChar char="◊"/>
            </a:pPr>
            <a:r>
              <a:rPr lang="en-US" sz="1500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L’échelle suit l’offre — qualitatif en Basic, 0–5 par dimension en Standard, agrégé en Premium.</a:t>
            </a:r>
            <a:endParaRPr lang="en-US" sz="1500" dirty="0"/>
          </a:p>
          <a:p>
            <a:pPr marL="279400" indent="-279400">
              <a:spcAft>
                <a:spcPts val="1100"/>
              </a:spcAft>
              <a:buSzPct val="100000"/>
              <a:buChar char="◊"/>
            </a:pPr>
            <a:r>
              <a:rPr lang="en-US" sz="1500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géométrie des cartes est schématique : aucune valeur navigationnelle ni juridique.</a:t>
            </a:r>
            <a:endParaRPr lang="en-US" sz="1500" dirty="0"/>
          </a:p>
          <a:p>
            <a:pPr marL="279400" indent="-279400">
              <a:spcAft>
                <a:spcPts val="800"/>
              </a:spcAft>
              <a:buSzPct val="100000"/>
              <a:buChar char="—"/>
            </a:pPr>
            <a:r>
              <a:rPr lang="en-US" sz="12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 n’est pas une prédiction, ni une probabilité de rupture.</a:t>
            </a:r>
            <a:endParaRPr lang="en-US" sz="1500" dirty="0"/>
          </a:p>
          <a:p>
            <a:pPr marL="279400" indent="-279400">
              <a:spcAft>
                <a:spcPts val="800"/>
              </a:spcAft>
              <a:buSzPct val="100000"/>
              <a:buChar char="—"/>
            </a:pPr>
            <a:r>
              <a:rPr lang="en-US" sz="12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 n’est pas un conseil juridique, financier ou assurantiel engageant.</a:t>
            </a:r>
            <a:endParaRPr lang="en-US" sz="1500" dirty="0"/>
          </a:p>
          <a:p>
            <a:pPr marL="279400" indent="-279400">
              <a:spcAft>
                <a:spcPts val="800"/>
              </a:spcAft>
              <a:buSzPct val="100000"/>
              <a:buChar char="—"/>
            </a:pPr>
            <a:r>
              <a:rPr lang="en-US" sz="12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Cela ne se substitue jamais au jugement interne du client.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58368" y="5815584"/>
            <a:ext cx="9774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i="1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indice qui ne dit pas ses limites n’est pas un indice, c’est une opinion chiffrée.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433304" y="61447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87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 / 16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10872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60" kern="0" dirty="0">
                <a:solidFill>
                  <a:srgbClr val="5C687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HDDE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786384"/>
            <a:ext cx="1087221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141C2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Révéler les dépendances cachées d’une entreprise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2194560"/>
            <a:ext cx="87782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100"/>
              </a:spcAft>
              <a:buSzPct val="100000"/>
              <a:buChar char="◊"/>
            </a:pPr>
            <a:r>
              <a:rPr lang="en-US" sz="1500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Entretien guidé en onze temps, du cadrage du cas à la synthèse traçable.</a:t>
            </a:r>
            <a:endParaRPr lang="en-US" sz="1500" dirty="0"/>
          </a:p>
          <a:p>
            <a:pPr marL="279400" indent="-279400">
              <a:spcAft>
                <a:spcPts val="1100"/>
              </a:spcAft>
              <a:buSzPct val="100000"/>
              <a:buChar char="◊"/>
            </a:pPr>
            <a:r>
              <a:rPr lang="en-US" sz="1500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Neuf dimensions de diagnostic notées 0–5, de la dépendance cachée à la préparation décisionnelle.</a:t>
            </a:r>
            <a:endParaRPr lang="en-US" sz="1500" dirty="0"/>
          </a:p>
          <a:p>
            <a:pPr marL="279400" indent="-279400">
              <a:spcAft>
                <a:spcPts val="1100"/>
              </a:spcAft>
              <a:buSzPct val="100000"/>
              <a:buChar char="◊"/>
            </a:pPr>
            <a:r>
              <a:rPr lang="en-US" sz="1500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Échelle de preuve 0–5 : une source officielle vaut 5, une suggestion LLM vaut 1 et n’est pas recevable.</a:t>
            </a:r>
            <a:endParaRPr lang="en-US" sz="1500" dirty="0"/>
          </a:p>
          <a:p>
            <a:pPr marL="279400" indent="-279400">
              <a:spcAft>
                <a:spcPts val="1100"/>
              </a:spcAft>
              <a:buSzPct val="100000"/>
              <a:buChar char="◊"/>
            </a:pPr>
            <a:r>
              <a:rPr lang="en-US" sz="1500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 team contradictoire avant conclusion, puis packet de diagnostic, source par source.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58368" y="5815584"/>
            <a:ext cx="9774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i="1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Cockpit d’entretien accessible par compte analyste, exports FR/EN.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433304" y="61447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87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 / 16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10872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60" kern="0" dirty="0">
                <a:solidFill>
                  <a:srgbClr val="5C687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VERDICT — OFFRE PREMIUM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786384"/>
            <a:ext cx="1087221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141C2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Passer du diagnostic à l’arbitrage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2194560"/>
            <a:ext cx="87782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100"/>
              </a:spcAft>
              <a:buSzPct val="100000"/>
              <a:buChar char="◊"/>
            </a:pPr>
            <a:r>
              <a:rPr lang="en-US" sz="1500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Sept temps V·E·R·D·I·C·T, de « voir la situation réelle » à la décision tenue.</a:t>
            </a:r>
            <a:endParaRPr lang="en-US" sz="1500" dirty="0"/>
          </a:p>
          <a:p>
            <a:pPr marL="279400" indent="-279400">
              <a:spcAft>
                <a:spcPts val="1100"/>
              </a:spcAft>
              <a:buSzPct val="100000"/>
              <a:buChar char="◊"/>
            </a:pPr>
            <a:r>
              <a:rPr lang="en-US" sz="1500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 moins trois options obligatoires : la principale, une alternative minimale, et l’opposée ou la non-action.</a:t>
            </a:r>
            <a:endParaRPr lang="en-US" sz="1500" dirty="0"/>
          </a:p>
          <a:p>
            <a:pPr marL="279400" indent="-279400">
              <a:spcAft>
                <a:spcPts val="1100"/>
              </a:spcAft>
              <a:buSzPct val="100000"/>
              <a:buChar char="◊"/>
            </a:pPr>
            <a:r>
              <a:rPr lang="en-US" sz="1500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Sept critères pondérés sur 100, échelle de preuve 0–5, audit des vetos durs.</a:t>
            </a:r>
            <a:endParaRPr lang="en-US" sz="1500" dirty="0"/>
          </a:p>
          <a:p>
            <a:pPr marL="279400" indent="-279400">
              <a:spcAft>
                <a:spcPts val="1100"/>
              </a:spcAft>
              <a:buSzPct val="100000"/>
              <a:buChar char="◊"/>
            </a:pPr>
            <a:r>
              <a:rPr lang="en-US" sz="1500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Quatre verdicts possibles : FAIRE, TESTER, DIFFÉRER, ABANDONNER.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58368" y="5815584"/>
            <a:ext cx="9774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i="1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PESTEL, SWOT et Business Model Canvas y sont transformés pour la décision, pas juxtaposés. Le score n’est pas la décision.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433304" y="61447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87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 / 16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10872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60" kern="0" dirty="0">
                <a:solidFill>
                  <a:srgbClr val="C828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COUVERTURE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58368" y="1371600"/>
            <a:ext cx="10872216" cy="3200400"/>
          </a:xfrm>
          <a:prstGeom prst="rect">
            <a:avLst/>
          </a:prstGeom>
          <a:solidFill>
            <a:srgbClr val="FCFDFE"/>
          </a:solidFill>
          <a:ln w="12700">
            <a:solidFill>
              <a:srgbClr val="D3DB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1828800"/>
            <a:ext cx="155448" cy="155448"/>
          </a:xfrm>
          <a:prstGeom prst="diamond">
            <a:avLst/>
          </a:prstGeom>
          <a:solidFill>
            <a:srgbClr val="0F3C4E"/>
          </a:solidFill>
          <a:ln w="12700">
            <a:solidFill>
              <a:srgbClr val="0F3C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3856" y="2212848"/>
            <a:ext cx="94091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141C2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Trois corridors fondateurs sont instruits : Malacca, Mer Rouge–Suez, Taïwan.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133856" y="3602736"/>
            <a:ext cx="940917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Fiches rédigées et sourcées, en cours de validation humaine — elles ne sont pas encore publiées. L’Atlas s’ouvre corridor par corridor, jamais avant que les gates soient tenues.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433304" y="61447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87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 / 16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3C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914400"/>
            <a:ext cx="12188952" cy="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1828800"/>
            <a:ext cx="12188952" cy="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2743200"/>
            <a:ext cx="12188952" cy="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3657600"/>
            <a:ext cx="12188952" cy="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572000"/>
            <a:ext cx="12188952" cy="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5486400"/>
            <a:ext cx="12188952" cy="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6400800"/>
            <a:ext cx="12188952" cy="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21214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C828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II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8368" y="2615184"/>
            <a:ext cx="8778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4F6F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Trois niveaux de lecture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658368" y="3822192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3DB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Informer, surveiller, arbitrer. Trois engagements différents, annoncés avec leurs plafonds.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433304" y="61447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CAD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 / 16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10872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60" kern="0" dirty="0">
                <a:solidFill>
                  <a:srgbClr val="5C687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OFFRES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786384"/>
            <a:ext cx="1087221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141C2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Trois niveaux de lecture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58368" y="2446020"/>
            <a:ext cx="3404616" cy="3063240"/>
          </a:xfrm>
          <a:prstGeom prst="rect">
            <a:avLst/>
          </a:prstGeom>
          <a:solidFill>
            <a:srgbClr val="F4F6F8"/>
          </a:solidFill>
          <a:ln w="12700">
            <a:solidFill>
              <a:srgbClr val="D3DB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9264" y="2756916"/>
            <a:ext cx="2782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5C687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INFORMER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69264" y="308610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41C2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Basic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969264" y="3762756"/>
            <a:ext cx="2782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3C4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19–49 €/mois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9264" y="4274820"/>
            <a:ext cx="27828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Comprendre les corridors, les flux et les vulnérabilités.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92168" y="2446020"/>
            <a:ext cx="3404616" cy="3063240"/>
          </a:xfrm>
          <a:prstGeom prst="rect">
            <a:avLst/>
          </a:prstGeom>
          <a:solidFill>
            <a:srgbClr val="FCFDFE"/>
          </a:solidFill>
          <a:ln w="22225">
            <a:solidFill>
              <a:srgbClr val="0F3C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3064" y="2756916"/>
            <a:ext cx="2782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C828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SURVEILLER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03064" y="308610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41C2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Standard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703064" y="3762756"/>
            <a:ext cx="2782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3C4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199–799 €/mois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03064" y="4274820"/>
            <a:ext cx="27828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Suivre les signaux, les scores et les évolutions.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25968" y="2446020"/>
            <a:ext cx="3404616" cy="3063240"/>
          </a:xfrm>
          <a:prstGeom prst="rect">
            <a:avLst/>
          </a:prstGeom>
          <a:solidFill>
            <a:srgbClr val="F4F6F8"/>
          </a:solidFill>
          <a:ln w="12700">
            <a:solidFill>
              <a:srgbClr val="D3DB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36864" y="2756916"/>
            <a:ext cx="2782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5C687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ARBITRER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436864" y="308610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41C2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Premium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436864" y="3762756"/>
            <a:ext cx="2782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3C4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3 000–15 000 €+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36864" y="4274820"/>
            <a:ext cx="27828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Scénarios, seuils de bascule et arbitrage contextualisé.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8368" y="5815584"/>
            <a:ext cx="9774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i="1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Basic informe. Standard surveille. Premium aide à arbitrer.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433304" y="61447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87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13 / 16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10872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60" kern="0" dirty="0">
                <a:solidFill>
                  <a:srgbClr val="5C687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OFFRES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786384"/>
            <a:ext cx="1087221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141C2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Ce que chaque niveau ouvre</a:t>
            </a:r>
            <a:endParaRPr lang="en-US" sz="3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2194560"/>
          <a:ext cx="10872216" cy="914400"/>
        </p:xfrm>
        <a:graphic>
          <a:graphicData uri="http://schemas.openxmlformats.org/drawingml/2006/table">
            <a:tbl>
              <a:tblPr/>
              <a:tblGrid>
                <a:gridCol w="6840945"/>
                <a:gridCol w="1343757"/>
                <a:gridCol w="1343757"/>
                <a:gridCol w="1343757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3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C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4F6F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Basic</a:t>
                      </a:r>
                      <a:endParaRPr lang="en-US" sz="11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3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C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4F6F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Standard</a:t>
                      </a:r>
                      <a:endParaRPr lang="en-US" sz="11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3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C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4F6F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Premium</a:t>
                      </a:r>
                      <a:endParaRPr lang="en-US" sz="11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3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C4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C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Diagnostic qualitatif bas → critique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3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3C4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✓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3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3C4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✓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3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3C4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✓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3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C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Scoring CVI 0–5 par dimension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3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FCAD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–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3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3C4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✓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3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3C4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✓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3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C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Signaux suivis par corridor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3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1C26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—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3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1C26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3 à 5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3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1C26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3 à 5 + seuils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3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C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Alertes thématiques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3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FCAD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–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3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3C4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✓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3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3C4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✓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3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C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Comparaison entre corridors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3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FCAD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–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3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3C4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✓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3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3C4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✓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3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C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Diagnostic d’exposition client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3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FCAD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–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3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FCAD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–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3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3C4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✓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3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C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Scénarios et seuils de bascule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3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FCAD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–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3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FCAD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–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3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3C4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✓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3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C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Restitution + note de décision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3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FCAD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–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3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FCAD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–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3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3C4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✓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3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58368" y="5815584"/>
            <a:ext cx="9774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i="1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 lancement, Basic et Standard ouvrent à mesure que l’Atlas et l’historique se constituent.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0433304" y="61447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87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 / 16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10872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60" kern="0" dirty="0">
                <a:solidFill>
                  <a:srgbClr val="5C687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PREMIUM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786384"/>
            <a:ext cx="1087221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141C2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Le pilote, et ses plafonds annoncés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2194560"/>
            <a:ext cx="87782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100"/>
              </a:spcAft>
              <a:buSzPct val="100000"/>
              <a:buChar char="◊"/>
            </a:pPr>
            <a:r>
              <a:rPr lang="en-US" sz="1500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corridor principal, un comparatif optionnel.</a:t>
            </a:r>
            <a:endParaRPr lang="en-US" sz="1500" dirty="0"/>
          </a:p>
          <a:p>
            <a:pPr marL="279400" indent="-279400">
              <a:spcAft>
                <a:spcPts val="1100"/>
              </a:spcAft>
              <a:buSzPct val="100000"/>
              <a:buChar char="◊"/>
            </a:pPr>
            <a:r>
              <a:rPr lang="en-US" sz="1500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Deux à trois flux instruits.</a:t>
            </a:r>
            <a:endParaRPr lang="en-US" sz="1500" dirty="0"/>
          </a:p>
          <a:p>
            <a:pPr marL="279400" indent="-279400">
              <a:spcAft>
                <a:spcPts val="1100"/>
              </a:spcAft>
              <a:buSzPct val="100000"/>
              <a:buChar char="◊"/>
            </a:pPr>
            <a:r>
              <a:rPr lang="en-US" sz="1500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Trois à cinq signaux suivis.</a:t>
            </a:r>
            <a:endParaRPr lang="en-US" sz="1500" dirty="0"/>
          </a:p>
          <a:p>
            <a:pPr marL="279400" indent="-279400">
              <a:spcAft>
                <a:spcPts val="1100"/>
              </a:spcAft>
              <a:buSzPct val="100000"/>
              <a:buChar char="◊"/>
            </a:pPr>
            <a:r>
              <a:rPr lang="en-US" sz="1500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Une restitution de 45 à 60 minutes, accompagnée d’une note de décision.</a:t>
            </a:r>
            <a:endParaRPr lang="en-US" sz="1500" dirty="0"/>
          </a:p>
          <a:p>
            <a:pPr marL="279400" indent="-279400">
              <a:spcAft>
                <a:spcPts val="1100"/>
              </a:spcAft>
              <a:buSzPct val="100000"/>
              <a:buChar char="◊"/>
            </a:pPr>
            <a:r>
              <a:rPr lang="en-US" sz="1500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Six à huit semaines, en pilote fermé.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58368" y="5815584"/>
            <a:ext cx="9774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i="1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plafonds sont annoncés avant l’engagement, pas découverts pendant. Un périmètre tenu vaut mieux qu’un périmètre promis.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433304" y="61447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87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15 / 16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3C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914400"/>
            <a:ext cx="12188952" cy="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1828800"/>
            <a:ext cx="12188952" cy="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2743200"/>
            <a:ext cx="12188952" cy="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3657600"/>
            <a:ext cx="12188952" cy="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572000"/>
            <a:ext cx="12188952" cy="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5486400"/>
            <a:ext cx="12188952" cy="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6400800"/>
            <a:ext cx="12188952" cy="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210312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4F6F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Engager la conversation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658368" y="3054096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D3DB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Applied Geopolitics publie. Sylvain Geffroy signe. LucidAxis porte structurellement.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D3DB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Pour un pilote Premium, l’entretien de cadrage précède toute proposition.</a:t>
            </a:r>
            <a:endParaRPr lang="en-US" sz="1400" dirty="0"/>
          </a:p>
        </p:txBody>
      </p:sp>
      <p:sp>
        <p:nvSpPr>
          <p:cNvPr id="23" name="Text 21">
            <a:hlinkClick r:id="rId1" tooltip=""/>
          </p:cNvPr>
          <p:cNvSpPr/>
          <p:nvPr/>
        </p:nvSpPr>
        <p:spPr>
          <a:xfrm>
            <a:off x="658368" y="444398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F4F6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contact@applied-geopolitics.com</a:t>
            </a:r>
            <a:endParaRPr lang="en-US" sz="1400" dirty="0"/>
          </a:p>
        </p:txBody>
      </p:sp>
      <p:sp>
        <p:nvSpPr>
          <p:cNvPr id="24" name="Text 22">
            <a:hlinkClick r:id="rId2" tooltip=""/>
          </p:cNvPr>
          <p:cNvSpPr/>
          <p:nvPr/>
        </p:nvSpPr>
        <p:spPr>
          <a:xfrm>
            <a:off x="658368" y="4828032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F4F6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www.applied-geopolitics.com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433304" y="61447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CAD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 / 16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Applied Geopolitics — LucidAxis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Applied Geopolitics — Plaquette</dc:title>
  <dc:subject>Géopolitique des corridors stratégiques : méthode CVI, HDDE, VERDICT et offres Basic / Standard / Premium.</dc:subject>
  <dc:creator>Applied Geopolitics</dc:creator>
  <cp:lastModifiedBy>Applied Geopolitics</cp:lastModifiedBy>
  <cp:revision>2026-08-10</cp:revision>
  <dcterms:created xsi:type="dcterms:W3CDTF">2026-08-10T00:00:00Z</dcterms:created>
  <dcterms:modified xsi:type="dcterms:W3CDTF">2026-08-10T00:00:00Z</dcterms:modified>
</cp:coreProperties>
</file>