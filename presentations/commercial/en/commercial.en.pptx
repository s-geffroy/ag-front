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mailto:contact@applied-geopolitics.com" TargetMode="External"/><Relationship Id="rId2" Type="http://schemas.openxmlformats.org/officeDocument/2006/relationships/hyperlink" Target="https://www.applied-geopolitics.com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" y="2212848"/>
            <a:ext cx="182880" cy="182880"/>
          </a:xfrm>
          <a:prstGeom prst="diamond">
            <a:avLst/>
          </a:prstGeom>
          <a:solidFill>
            <a:srgbClr val="C8282C"/>
          </a:solidFill>
          <a:ln w="12700">
            <a:solidFill>
              <a:srgbClr val="C8282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2615184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Applied Geopolitics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658368" y="3986784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Géopolitique des corridors stratégiques et des flux de puissance.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58368" y="5943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COMPANY DECK · EN · 2026-08-10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58368" y="1371600"/>
            <a:ext cx="10872216" cy="320040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1828800"/>
            <a:ext cx="155448" cy="155448"/>
          </a:xfrm>
          <a:prstGeom prst="diamond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33856" y="2212848"/>
            <a:ext cx="94091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 company knows its suppliers. What it does not know is which corridors make those suppliers dependent on someone else.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33856" y="3602736"/>
            <a:ext cx="94091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Declared dependency is contractual and legible. Real dependency runs through chokepoints, jurisdictions and insurers that never made it onto the risk register.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16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DOCTRINE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From corridor to decision, in seven moves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434955" y="3557016"/>
            <a:ext cx="9319042" cy="0"/>
          </a:xfrm>
          <a:prstGeom prst="line">
            <a:avLst/>
          </a:prstGeom>
          <a:noFill/>
          <a:ln w="12700">
            <a:solidFill>
              <a:srgbClr val="0F3C4E">
                <a:alpha val="55000"/>
              </a:srgbClr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352659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CORRIDORS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905833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11542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11542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FLUX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59006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64715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764715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DÉPENDANCES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12180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17889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317889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VULNÉRABILITÉS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565354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71063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871063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SEUILS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118527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24237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424237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SCÉNARIOS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0671701" y="3474720"/>
            <a:ext cx="164592" cy="164592"/>
          </a:xfrm>
          <a:prstGeom prst="diamond">
            <a:avLst/>
          </a:prstGeom>
          <a:solidFill>
            <a:srgbClr val="C8282C"/>
          </a:solidFill>
          <a:ln w="19050">
            <a:solidFill>
              <a:srgbClr val="C8282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977410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977410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DÉCISIONS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58368" y="5888736"/>
            <a:ext cx="9774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order is the argument: you do not jump from flows to decisions without thresholds.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16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SHIFT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58368" y="1371600"/>
            <a:ext cx="10872216" cy="320040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1828800"/>
            <a:ext cx="155448" cy="155448"/>
          </a:xfrm>
          <a:prstGeom prst="diamond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33856" y="2212848"/>
            <a:ext cx="94091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Visible dependency is not critical dependency. What breaks an operation is almost always one tier further back.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33856" y="3602736"/>
            <a:ext cx="94091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declared supplier is rarely the binding node. Behind it sit a strait, a regulator, an insurer, a single plant — and that is where the rupture happens.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16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CVI METHOD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Measuring vulnerability, without pretending to precision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2478024"/>
            <a:ext cx="384048" cy="274320"/>
          </a:xfrm>
          <a:prstGeom prst="rect">
            <a:avLst/>
          </a:prstGeom>
          <a:solidFill>
            <a:srgbClr val="167858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2416" y="2478024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26464" y="2478024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10512" y="2478024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05456" y="247802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6785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LOW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69664" y="247802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Credible alternatives, limited exposure.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3227832"/>
            <a:ext cx="384048" cy="274320"/>
          </a:xfrm>
          <a:prstGeom prst="rect">
            <a:avLst/>
          </a:prstGeom>
          <a:solidFill>
            <a:srgbClr val="167858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42416" y="3227832"/>
            <a:ext cx="384048" cy="274320"/>
          </a:xfrm>
          <a:prstGeom prst="rect">
            <a:avLst/>
          </a:prstGeom>
          <a:solidFill>
            <a:srgbClr val="A8740E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26464" y="3227832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810512" y="3227832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05456" y="32278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740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MODERATE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169664" y="3227832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dependency, costly workaround.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58368" y="3977640"/>
            <a:ext cx="384048" cy="274320"/>
          </a:xfrm>
          <a:prstGeom prst="rect">
            <a:avLst/>
          </a:prstGeom>
          <a:solidFill>
            <a:srgbClr val="167858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42416" y="3977640"/>
            <a:ext cx="384048" cy="274320"/>
          </a:xfrm>
          <a:prstGeom prst="rect">
            <a:avLst/>
          </a:prstGeom>
          <a:solidFill>
            <a:srgbClr val="A8740E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26464" y="3977640"/>
            <a:ext cx="384048" cy="274320"/>
          </a:xfrm>
          <a:prstGeom prst="rect">
            <a:avLst/>
          </a:prstGeom>
          <a:solidFill>
            <a:srgbClr val="C24E1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10512" y="3977640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05456" y="39776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24E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HIGH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69664" y="3977640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Few alternatives, thresholds close.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58368" y="4727448"/>
            <a:ext cx="384048" cy="274320"/>
          </a:xfrm>
          <a:prstGeom prst="rect">
            <a:avLst/>
          </a:prstGeom>
          <a:solidFill>
            <a:srgbClr val="167858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42416" y="4727448"/>
            <a:ext cx="384048" cy="274320"/>
          </a:xfrm>
          <a:prstGeom prst="rect">
            <a:avLst/>
          </a:prstGeom>
          <a:solidFill>
            <a:srgbClr val="A8740E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26464" y="4727448"/>
            <a:ext cx="384048" cy="274320"/>
          </a:xfrm>
          <a:prstGeom prst="rect">
            <a:avLst/>
          </a:prstGeom>
          <a:solidFill>
            <a:srgbClr val="C24E1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10512" y="4727448"/>
            <a:ext cx="384048" cy="274320"/>
          </a:xfrm>
          <a:prstGeom prst="rect">
            <a:avLst/>
          </a:prstGeom>
          <a:solidFill>
            <a:srgbClr val="B8262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05456" y="4727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826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CRITICAL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169664" y="4727448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Extreme concentration, systemic disruption.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58368" y="5888736"/>
            <a:ext cx="9774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Eight dimensions. Every score carries its sources, its date, its confidence level and its uncertainties.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16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CVI METHOD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What the CVI does not claim to be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Hard rule: no aggregate 0–100 score without published methodological documentation.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scale follows the tier — qualitative in Basic, 0–5 per dimension in Standard, aggregate in Premium.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 geometry is schematic: it carries no navigational or legal precision.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is not a prediction, nor a probability of disruption.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is not binding legal, financial or insurance advice.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never substitutes for the client’s own internal judgement.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88736"/>
            <a:ext cx="9774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index that does not state its limits is not an index. It is an opinion with numbers.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16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HDDE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Surfacing a company’s hidden dependencies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guided interview in eleven moves, from framing the case to a traceable synthesis.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Nine diagnostic dimensions scored 0–5, from hidden dependency to decision readiness.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scale 0–5: an official source rates 5; an LLM suggestion rates 1 and is not admissible.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Adversarial red team before any conclusion, then a diagnostic packet, source by source.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88736"/>
            <a:ext cx="9774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Interview cockpit behind individual analyst accounts, FR/EN exports.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16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VERDICT — PREMIUM TIER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From diagnosis to arbitration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Seven moves, V·E·R·D·I·C·T, from “see the real situation” to a decision that holds.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least three mandatory options: the main one, a minimal alternative, and the opposite or doing nothing.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Seven weighted criteria out of 100, a 0–5 proof scale, and a hard-veto audit.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possible verdicts: DO, TEST, DEFER, ABANDON.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88736"/>
            <a:ext cx="9774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PESTEL, SWOT and the Business Model Canvas are transformed for decision, not juxtaposed. The score is not the decision.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16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COVERAGE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58368" y="1371600"/>
            <a:ext cx="10872216" cy="320040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1828800"/>
            <a:ext cx="155448" cy="155448"/>
          </a:xfrm>
          <a:prstGeom prst="diamond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33856" y="2212848"/>
            <a:ext cx="94091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Three founding corridors are under study: Malacca, Red Sea–Suez, Taiwan.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33856" y="3602736"/>
            <a:ext cx="94091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and sourced, currently in human validation — not yet published. The Atlas opens one corridor at a time, never before the gates are met.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16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TIERS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Three levels of reading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2446020"/>
            <a:ext cx="3404616" cy="3063240"/>
          </a:xfrm>
          <a:prstGeom prst="rect">
            <a:avLst/>
          </a:prstGeom>
          <a:solidFill>
            <a:srgbClr val="F4F6F8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" y="2756916"/>
            <a:ext cx="2782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INFORM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69264" y="3086100"/>
            <a:ext cx="2782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Basic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69264" y="3762756"/>
            <a:ext cx="2782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19–49 €/mois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9264" y="4274820"/>
            <a:ext cx="2782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Understand corridors, flows and vulnerabilities.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2168" y="2446020"/>
            <a:ext cx="3404616" cy="3063240"/>
          </a:xfrm>
          <a:prstGeom prst="rect">
            <a:avLst/>
          </a:prstGeom>
          <a:solidFill>
            <a:srgbClr val="FCFDFE"/>
          </a:solidFill>
          <a:ln w="22225">
            <a:solidFill>
              <a:srgbClr val="0F3C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3064" y="2756916"/>
            <a:ext cx="2782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MONITOR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703064" y="3086100"/>
            <a:ext cx="2782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Standard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703064" y="3762756"/>
            <a:ext cx="2782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199–799 €/mois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703064" y="4274820"/>
            <a:ext cx="2782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the signals, the scores and how they move.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25968" y="2446020"/>
            <a:ext cx="3404616" cy="3063240"/>
          </a:xfrm>
          <a:prstGeom prst="rect">
            <a:avLst/>
          </a:prstGeom>
          <a:solidFill>
            <a:srgbClr val="F4F6F8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36864" y="2756916"/>
            <a:ext cx="2782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ARBITRATE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436864" y="3086100"/>
            <a:ext cx="2782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Premium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436864" y="3762756"/>
            <a:ext cx="2782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3 000–15 000 €+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36864" y="4274820"/>
            <a:ext cx="2782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Scenarios, tipping thresholds and contextualised arbitration.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8368" y="5888736"/>
            <a:ext cx="9774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Basic informs. Standard monitors. Premium helps you arbitrate.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16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TIERS · BASIC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Inform — 19–49 €/mois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Structured notes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Basic Atlas entries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Qualitative diagnostics (low → critical)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Executive summaries of dossiers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Synthesis newsletter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0–5 CVI scoring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Thematic alerts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Historical tracking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88736"/>
            <a:ext cx="9774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Understand corridors, flows and vulnerabilities.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16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TIERS · STANDARD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Monitor — 199–799 €/mois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in Basic, plus: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Atlas entries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0–5 CVI scoring per dimension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Thematic alerts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to 5 tracked signals per corridor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Corridor-to-corridor comparison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contextualisation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Bespoke CVI weightings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Tailored debrief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88736"/>
            <a:ext cx="9774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the signals, the scores and how they move.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16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TIERS · PREMIUM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Arbitrate — 3 000–15 000 €+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in Standard, plus: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Framing interview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exposure diagnosis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Tailored scenarios and tipping thresholds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Mitigation options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45–60 min debrief + decision note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supply-chain audit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Legal advice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Guaranteed prediction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88736"/>
            <a:ext cx="9774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Scenarios, tipping thresholds and contextualised arbitration.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 / 16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TIERS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What each level opens</a:t>
            </a:r>
            <a:endParaRPr lang="en-US" sz="3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194560"/>
          <a:ext cx="10872216" cy="914400"/>
        </p:xfrm>
        <a:graphic>
          <a:graphicData uri="http://schemas.openxmlformats.org/drawingml/2006/table">
            <a:tbl>
              <a:tblPr/>
              <a:tblGrid>
                <a:gridCol w="6840945"/>
                <a:gridCol w="1343757"/>
                <a:gridCol w="1343757"/>
                <a:gridCol w="1343757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4F6F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Basic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4F6F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Standard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4F6F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Premium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4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Qualitative diagnosis, low → critical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0–5 CVI scoring per dimension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Tracked signals per corridor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—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 to 5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 to 5 + thresholds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Thematic alerts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Corridor-to-corridor comparison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Client exposure diagnosis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Scenarios and tipping thresholds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Debrief + decision note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58368" y="5888736"/>
            <a:ext cx="9774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launch, Basic and Standard open progressively as the Atlas and its history build up.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 / 16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PREMIUM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The pilot, and its stated ceilings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main corridor, one optional comparison.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to three flows examined.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to five tracked signals.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45–60 minute debrief, with a decision note.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to eight weeks, as a closed pilot.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88736"/>
            <a:ext cx="9774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ceilings are stated before the engagement, not discovered during it. A scope that holds beats a scope that was promised.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 / 16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031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Start the conversation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658368" y="3054096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Applied Geopolitics publishes. Sylvain Geffroy signs. LucidAxis carries it structurally.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a Premium pilot, the framing interview comes before any proposal.</a:t>
            </a:r>
            <a:endParaRPr lang="en-US" sz="1400" dirty="0"/>
          </a:p>
        </p:txBody>
      </p:sp>
      <p:sp>
        <p:nvSpPr>
          <p:cNvPr id="23" name="Text 21">
            <a:hlinkClick r:id="rId1" tooltip=""/>
          </p:cNvPr>
          <p:cNvSpPr/>
          <p:nvPr/>
        </p:nvSpPr>
        <p:spPr>
          <a:xfrm>
            <a:off x="658368" y="44439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F4F6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contact@applied-geopolitics.com</a:t>
            </a:r>
            <a:endParaRPr lang="en-US" sz="1400" dirty="0"/>
          </a:p>
        </p:txBody>
      </p:sp>
      <p:sp>
        <p:nvSpPr>
          <p:cNvPr id="24" name="Text 22">
            <a:hlinkClick r:id="rId2" tooltip=""/>
          </p:cNvPr>
          <p:cNvSpPr/>
          <p:nvPr/>
        </p:nvSpPr>
        <p:spPr>
          <a:xfrm>
            <a:off x="658368" y="482803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F4F6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www.applied-geopolitics.com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 / 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Applied Geopolitics — LucidAxis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Applied Geopolitics — Company Deck</dc:title>
  <dc:subject>Geopolitics of strategic corridors: the CVI method, HDDE, VERDICT, and the Basic / Standard / Premium tiers.</dc:subject>
  <dc:creator>Applied Geopolitics</dc:creator>
  <cp:lastModifiedBy>Applied Geopolitics</cp:lastModifiedBy>
  <cp:revision>2026-08-10</cp:revision>
  <dcterms:created xsi:type="dcterms:W3CDTF">2026-08-10T00:00:00Z</dcterms:created>
  <dcterms:modified xsi:type="dcterms:W3CDTF">2026-08-10T00:00:00Z</dcterms:modified>
</cp:coreProperties>
</file>